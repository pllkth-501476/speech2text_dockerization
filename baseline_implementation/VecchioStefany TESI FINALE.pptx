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4" r:id="rId1"/>
  </p:sldMasterIdLst>
  <p:notesMasterIdLst>
    <p:notesMasterId r:id="rId21"/>
  </p:notesMasterIdLst>
  <p:handoutMasterIdLst>
    <p:handoutMasterId r:id="rId22"/>
  </p:handoutMasterIdLst>
  <p:sldIdLst>
    <p:sldId id="264" r:id="rId2"/>
    <p:sldId id="275" r:id="rId3"/>
    <p:sldId id="256" r:id="rId4"/>
    <p:sldId id="285" r:id="rId5"/>
    <p:sldId id="292" r:id="rId6"/>
    <p:sldId id="267" r:id="rId7"/>
    <p:sldId id="271" r:id="rId8"/>
    <p:sldId id="277" r:id="rId9"/>
    <p:sldId id="278" r:id="rId10"/>
    <p:sldId id="272" r:id="rId11"/>
    <p:sldId id="273" r:id="rId12"/>
    <p:sldId id="274" r:id="rId13"/>
    <p:sldId id="287" r:id="rId14"/>
    <p:sldId id="289" r:id="rId15"/>
    <p:sldId id="288" r:id="rId16"/>
    <p:sldId id="279" r:id="rId17"/>
    <p:sldId id="270" r:id="rId18"/>
    <p:sldId id="290" r:id="rId19"/>
    <p:sldId id="291" r:id="rId20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zione predefinita" id="{9BC8FBBA-3D8D-48DF-A6A4-0800F6382CF7}">
          <p14:sldIdLst>
            <p14:sldId id="264"/>
          </p14:sldIdLst>
        </p14:section>
        <p14:section name="Sezione di riepilogo" id="{A904DD72-7191-4F43-A9EE-B9BEBB51A32C}">
          <p14:sldIdLst>
            <p14:sldId id="275"/>
          </p14:sldIdLst>
        </p14:section>
        <p14:section name="METAVERSO, AI &amp; PSICOLOGIA " id="{00D39F85-58B1-4505-B893-DBB207F546A2}">
          <p14:sldIdLst>
            <p14:sldId id="256"/>
            <p14:sldId id="285"/>
            <p14:sldId id="292"/>
            <p14:sldId id="267"/>
            <p14:sldId id="271"/>
            <p14:sldId id="277"/>
            <p14:sldId id="278"/>
            <p14:sldId id="272"/>
            <p14:sldId id="273"/>
            <p14:sldId id="274"/>
            <p14:sldId id="287"/>
            <p14:sldId id="289"/>
            <p14:sldId id="288"/>
            <p14:sldId id="279"/>
            <p14:sldId id="270"/>
            <p14:sldId id="290"/>
            <p14:sldId id="29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Stile chiaro 2 - Color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73A0DAA-6AF3-43AB-8588-CEC1D06C72B9}" styleName="Stile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Stile medio 2 - Color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Stile chiaro 1 - Color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essuno stile, nessuna grigli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DBED569-4797-4DF1-A0F4-6AAB3CD982D8}" styleName="Stile chiaro 3 - Colore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Stile chiaro 2 - Colore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48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3" d="100"/>
          <a:sy n="93" d="100"/>
        </p:scale>
        <p:origin x="295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B71BEF1-07D6-4FC7-9336-CC5B6AA32853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A2ABFBD6-0F62-4CFD-B6FC-7B289C0D089B}">
      <dgm:prSet phldrT="[Testo]" custT="1"/>
      <dgm:spPr>
        <a:solidFill>
          <a:schemeClr val="accent5"/>
        </a:solidFill>
      </dgm:spPr>
      <dgm:t>
        <a:bodyPr/>
        <a:lstStyle/>
        <a:p>
          <a:r>
            <a:rPr lang="it-IT" sz="3200" dirty="0"/>
            <a:t>SPEECH-TO-TEXT</a:t>
          </a:r>
          <a:endParaRPr lang="it-IT" sz="1800" dirty="0"/>
        </a:p>
      </dgm:t>
    </dgm:pt>
    <dgm:pt modelId="{82D43544-11DD-41B9-8D05-3321DFC7E0D7}" type="parTrans" cxnId="{592F39CC-157B-4F1C-890B-5EA63FFD8288}">
      <dgm:prSet/>
      <dgm:spPr/>
      <dgm:t>
        <a:bodyPr/>
        <a:lstStyle/>
        <a:p>
          <a:endParaRPr lang="it-IT"/>
        </a:p>
      </dgm:t>
    </dgm:pt>
    <dgm:pt modelId="{697F0C86-CC48-4496-A596-460F3DEFC063}" type="sibTrans" cxnId="{592F39CC-157B-4F1C-890B-5EA63FFD8288}">
      <dgm:prSet/>
      <dgm:spPr/>
      <dgm:t>
        <a:bodyPr/>
        <a:lstStyle/>
        <a:p>
          <a:endParaRPr lang="it-IT"/>
        </a:p>
      </dgm:t>
    </dgm:pt>
    <dgm:pt modelId="{956C112A-89B2-4DEA-B635-FDE3F5A28E31}">
      <dgm:prSet phldrT="[Testo]" custT="1"/>
      <dgm:spPr/>
      <dgm:t>
        <a:bodyPr/>
        <a:lstStyle/>
        <a:p>
          <a:r>
            <a:rPr lang="it-IT" sz="2400" dirty="0"/>
            <a:t>Applicazione di un similarity score per il confronto tra ground truth e output AI</a:t>
          </a:r>
        </a:p>
      </dgm:t>
    </dgm:pt>
    <dgm:pt modelId="{BFC267A5-A216-4499-91A2-8CA88D0BEB41}" type="parTrans" cxnId="{45EE19F8-779E-4357-A197-19F4184F16C0}">
      <dgm:prSet/>
      <dgm:spPr/>
      <dgm:t>
        <a:bodyPr/>
        <a:lstStyle/>
        <a:p>
          <a:endParaRPr lang="it-IT"/>
        </a:p>
      </dgm:t>
    </dgm:pt>
    <dgm:pt modelId="{1C959F51-4754-4E62-8652-B0DFC23259A7}" type="sibTrans" cxnId="{45EE19F8-779E-4357-A197-19F4184F16C0}">
      <dgm:prSet/>
      <dgm:spPr/>
      <dgm:t>
        <a:bodyPr/>
        <a:lstStyle/>
        <a:p>
          <a:endParaRPr lang="it-IT"/>
        </a:p>
      </dgm:t>
    </dgm:pt>
    <dgm:pt modelId="{C12AB631-2D53-491A-BAAA-40F21AE2BBFB}">
      <dgm:prSet phldrT="[Testo]" custT="1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it-IT" sz="3200" dirty="0"/>
            <a:t>VALUTAZIONE ACCURATEZZA</a:t>
          </a:r>
        </a:p>
      </dgm:t>
    </dgm:pt>
    <dgm:pt modelId="{84A5BAA7-EF9C-4877-8769-60DF9EBC717E}" type="parTrans" cxnId="{094B541B-D562-4B60-BE4A-48D5884DE14D}">
      <dgm:prSet/>
      <dgm:spPr/>
      <dgm:t>
        <a:bodyPr/>
        <a:lstStyle/>
        <a:p>
          <a:endParaRPr lang="it-IT"/>
        </a:p>
      </dgm:t>
    </dgm:pt>
    <dgm:pt modelId="{D7AEF966-5ABD-4166-BAF3-A1865E7609A2}" type="sibTrans" cxnId="{094B541B-D562-4B60-BE4A-48D5884DE14D}">
      <dgm:prSet/>
      <dgm:spPr/>
      <dgm:t>
        <a:bodyPr/>
        <a:lstStyle/>
        <a:p>
          <a:endParaRPr lang="it-IT"/>
        </a:p>
      </dgm:t>
    </dgm:pt>
    <dgm:pt modelId="{6A891290-E6AC-4F1E-A8EA-BE6BC0388FE2}">
      <dgm:prSet phldrT="[Testo]" custT="1"/>
      <dgm:spPr/>
      <dgm:t>
        <a:bodyPr/>
        <a:lstStyle/>
        <a:p>
          <a:r>
            <a:rPr lang="it-IT" sz="2400" dirty="0"/>
            <a:t>Convertire sedute .mp4 in .txt</a:t>
          </a:r>
        </a:p>
      </dgm:t>
    </dgm:pt>
    <dgm:pt modelId="{FEE666E7-1D84-4935-801B-E00B336B2A23}" type="parTrans" cxnId="{385B618E-BDAC-4B66-AEAA-AC5B1564A62E}">
      <dgm:prSet/>
      <dgm:spPr/>
      <dgm:t>
        <a:bodyPr/>
        <a:lstStyle/>
        <a:p>
          <a:endParaRPr lang="it-IT"/>
        </a:p>
      </dgm:t>
    </dgm:pt>
    <dgm:pt modelId="{0CCCAF69-DA39-4FEA-BA80-5C0ACF83C9F0}" type="sibTrans" cxnId="{385B618E-BDAC-4B66-AEAA-AC5B1564A62E}">
      <dgm:prSet/>
      <dgm:spPr/>
      <dgm:t>
        <a:bodyPr/>
        <a:lstStyle/>
        <a:p>
          <a:endParaRPr lang="it-IT"/>
        </a:p>
      </dgm:t>
    </dgm:pt>
    <dgm:pt modelId="{CBFA5703-343D-4FD5-B6CE-028B40E8C641}">
      <dgm:prSet phldrT="[Testo]" custT="1"/>
      <dgm:spPr>
        <a:solidFill>
          <a:schemeClr val="accent5">
            <a:lumMod val="50000"/>
          </a:schemeClr>
        </a:solidFill>
      </dgm:spPr>
      <dgm:t>
        <a:bodyPr/>
        <a:lstStyle/>
        <a:p>
          <a:r>
            <a:rPr lang="it-IT" sz="3200" dirty="0"/>
            <a:t>TEXT CORRECTION</a:t>
          </a:r>
        </a:p>
      </dgm:t>
    </dgm:pt>
    <dgm:pt modelId="{96B10709-6C68-4C3F-AB6E-B7AA459BE680}" type="parTrans" cxnId="{7E001A55-CE9E-4FC0-BB62-71B4A7B3AC78}">
      <dgm:prSet/>
      <dgm:spPr/>
      <dgm:t>
        <a:bodyPr/>
        <a:lstStyle/>
        <a:p>
          <a:endParaRPr lang="it-IT"/>
        </a:p>
      </dgm:t>
    </dgm:pt>
    <dgm:pt modelId="{7D4EBE78-051A-4077-A615-C2B7DB8F438E}" type="sibTrans" cxnId="{7E001A55-CE9E-4FC0-BB62-71B4A7B3AC78}">
      <dgm:prSet/>
      <dgm:spPr/>
      <dgm:t>
        <a:bodyPr/>
        <a:lstStyle/>
        <a:p>
          <a:endParaRPr lang="it-IT"/>
        </a:p>
      </dgm:t>
    </dgm:pt>
    <dgm:pt modelId="{93420261-9B77-4915-8AF1-C51430C600D5}">
      <dgm:prSet phldrT="[Testo]" custT="1"/>
      <dgm:spPr/>
      <dgm:t>
        <a:bodyPr/>
        <a:lstStyle/>
        <a:p>
          <a:r>
            <a:rPr lang="it-IT" sz="2400" dirty="0"/>
            <a:t>Migliorare</a:t>
          </a:r>
          <a:r>
            <a:rPr lang="it-IT" sz="2400" baseline="0" dirty="0"/>
            <a:t> l’accuratezza con l’uso di LLM</a:t>
          </a:r>
          <a:endParaRPr lang="it-IT" sz="2400" dirty="0"/>
        </a:p>
      </dgm:t>
    </dgm:pt>
    <dgm:pt modelId="{F70D5E43-2BC8-463B-9E57-F10BAA450C88}" type="parTrans" cxnId="{D7D18E93-AE11-4B38-8390-9C408D914D77}">
      <dgm:prSet/>
      <dgm:spPr/>
      <dgm:t>
        <a:bodyPr/>
        <a:lstStyle/>
        <a:p>
          <a:endParaRPr lang="it-IT"/>
        </a:p>
      </dgm:t>
    </dgm:pt>
    <dgm:pt modelId="{EDBE4890-D845-4562-8A67-0B9B46E123F9}" type="sibTrans" cxnId="{D7D18E93-AE11-4B38-8390-9C408D914D77}">
      <dgm:prSet/>
      <dgm:spPr/>
      <dgm:t>
        <a:bodyPr/>
        <a:lstStyle/>
        <a:p>
          <a:endParaRPr lang="it-IT"/>
        </a:p>
      </dgm:t>
    </dgm:pt>
    <dgm:pt modelId="{D5C98F7C-CBBA-43C6-95CA-12369EFDD26F}" type="pres">
      <dgm:prSet presAssocID="{7B71BEF1-07D6-4FC7-9336-CC5B6AA32853}" presName="Name0" presStyleCnt="0">
        <dgm:presLayoutVars>
          <dgm:dir/>
          <dgm:animLvl val="lvl"/>
          <dgm:resizeHandles val="exact"/>
        </dgm:presLayoutVars>
      </dgm:prSet>
      <dgm:spPr/>
    </dgm:pt>
    <dgm:pt modelId="{65D9FECB-9DD5-4669-920F-EC0255F79D20}" type="pres">
      <dgm:prSet presAssocID="{A2ABFBD6-0F62-4CFD-B6FC-7B289C0D089B}" presName="linNode" presStyleCnt="0"/>
      <dgm:spPr/>
    </dgm:pt>
    <dgm:pt modelId="{A2CDE86C-78F3-4100-8F17-8BC8C6CBAEE0}" type="pres">
      <dgm:prSet presAssocID="{A2ABFBD6-0F62-4CFD-B6FC-7B289C0D089B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35368804-1B26-401E-8993-C8BD21870346}" type="pres">
      <dgm:prSet presAssocID="{A2ABFBD6-0F62-4CFD-B6FC-7B289C0D089B}" presName="descendantText" presStyleLbl="alignAccFollowNode1" presStyleIdx="0" presStyleCnt="3" custLinFactY="30236" custLinFactNeighborY="100000">
        <dgm:presLayoutVars>
          <dgm:bulletEnabled val="1"/>
        </dgm:presLayoutVars>
      </dgm:prSet>
      <dgm:spPr/>
    </dgm:pt>
    <dgm:pt modelId="{101D71C4-3DC3-4CE8-905F-0F830E91D342}" type="pres">
      <dgm:prSet presAssocID="{697F0C86-CC48-4496-A596-460F3DEFC063}" presName="sp" presStyleCnt="0"/>
      <dgm:spPr/>
    </dgm:pt>
    <dgm:pt modelId="{12524E86-86AE-4317-B63C-74DBFB048A47}" type="pres">
      <dgm:prSet presAssocID="{C12AB631-2D53-491A-BAAA-40F21AE2BBFB}" presName="linNode" presStyleCnt="0"/>
      <dgm:spPr/>
    </dgm:pt>
    <dgm:pt modelId="{165C14A2-FF76-4A0B-B18C-577CB48450F8}" type="pres">
      <dgm:prSet presAssocID="{C12AB631-2D53-491A-BAAA-40F21AE2BBFB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C2567671-B76B-4146-AFA0-C542063CBA7D}" type="pres">
      <dgm:prSet presAssocID="{C12AB631-2D53-491A-BAAA-40F21AE2BBFB}" presName="descendantText" presStyleLbl="alignAccFollowNode1" presStyleIdx="1" presStyleCnt="3" custLinFactY="-33220" custLinFactNeighborX="0" custLinFactNeighborY="-100000">
        <dgm:presLayoutVars>
          <dgm:bulletEnabled val="1"/>
        </dgm:presLayoutVars>
      </dgm:prSet>
      <dgm:spPr/>
    </dgm:pt>
    <dgm:pt modelId="{A5A8903B-EF34-47C8-9172-6FE5371CA1D2}" type="pres">
      <dgm:prSet presAssocID="{D7AEF966-5ABD-4166-BAF3-A1865E7609A2}" presName="sp" presStyleCnt="0"/>
      <dgm:spPr/>
    </dgm:pt>
    <dgm:pt modelId="{97C3DAD8-BF8C-4FBE-B6CA-4CE9AB2C6471}" type="pres">
      <dgm:prSet presAssocID="{CBFA5703-343D-4FD5-B6CE-028B40E8C641}" presName="linNode" presStyleCnt="0"/>
      <dgm:spPr/>
    </dgm:pt>
    <dgm:pt modelId="{A66115E3-40C2-4479-B6D6-8F4C1A173807}" type="pres">
      <dgm:prSet presAssocID="{CBFA5703-343D-4FD5-B6CE-028B40E8C641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E31E2340-380E-4C68-856E-483B82BD2ACC}" type="pres">
      <dgm:prSet presAssocID="{CBFA5703-343D-4FD5-B6CE-028B40E8C641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094B541B-D562-4B60-BE4A-48D5884DE14D}" srcId="{7B71BEF1-07D6-4FC7-9336-CC5B6AA32853}" destId="{C12AB631-2D53-491A-BAAA-40F21AE2BBFB}" srcOrd="1" destOrd="0" parTransId="{84A5BAA7-EF9C-4877-8769-60DF9EBC717E}" sibTransId="{D7AEF966-5ABD-4166-BAF3-A1865E7609A2}"/>
    <dgm:cxn modelId="{43CFC721-DB04-4468-8896-460AAB4C7C00}" type="presOf" srcId="{CBFA5703-343D-4FD5-B6CE-028B40E8C641}" destId="{A66115E3-40C2-4479-B6D6-8F4C1A173807}" srcOrd="0" destOrd="0" presId="urn:microsoft.com/office/officeart/2005/8/layout/vList5"/>
    <dgm:cxn modelId="{3AC14428-C007-4D5F-B244-AB65886BF2A9}" type="presOf" srcId="{956C112A-89B2-4DEA-B635-FDE3F5A28E31}" destId="{35368804-1B26-401E-8993-C8BD21870346}" srcOrd="0" destOrd="0" presId="urn:microsoft.com/office/officeart/2005/8/layout/vList5"/>
    <dgm:cxn modelId="{A6120B71-D202-41AA-9B0D-47B2A0072DE4}" type="presOf" srcId="{A2ABFBD6-0F62-4CFD-B6FC-7B289C0D089B}" destId="{A2CDE86C-78F3-4100-8F17-8BC8C6CBAEE0}" srcOrd="0" destOrd="0" presId="urn:microsoft.com/office/officeart/2005/8/layout/vList5"/>
    <dgm:cxn modelId="{7E001A55-CE9E-4FC0-BB62-71B4A7B3AC78}" srcId="{7B71BEF1-07D6-4FC7-9336-CC5B6AA32853}" destId="{CBFA5703-343D-4FD5-B6CE-028B40E8C641}" srcOrd="2" destOrd="0" parTransId="{96B10709-6C68-4C3F-AB6E-B7AA459BE680}" sibTransId="{7D4EBE78-051A-4077-A615-C2B7DB8F438E}"/>
    <dgm:cxn modelId="{00018178-4171-41ED-9280-B5D727942FCD}" type="presOf" srcId="{7B71BEF1-07D6-4FC7-9336-CC5B6AA32853}" destId="{D5C98F7C-CBBA-43C6-95CA-12369EFDD26F}" srcOrd="0" destOrd="0" presId="urn:microsoft.com/office/officeart/2005/8/layout/vList5"/>
    <dgm:cxn modelId="{36F4DD89-2834-4ACE-89C2-05742CC849DE}" type="presOf" srcId="{C12AB631-2D53-491A-BAAA-40F21AE2BBFB}" destId="{165C14A2-FF76-4A0B-B18C-577CB48450F8}" srcOrd="0" destOrd="0" presId="urn:microsoft.com/office/officeart/2005/8/layout/vList5"/>
    <dgm:cxn modelId="{385B618E-BDAC-4B66-AEAA-AC5B1564A62E}" srcId="{C12AB631-2D53-491A-BAAA-40F21AE2BBFB}" destId="{6A891290-E6AC-4F1E-A8EA-BE6BC0388FE2}" srcOrd="0" destOrd="0" parTransId="{FEE666E7-1D84-4935-801B-E00B336B2A23}" sibTransId="{0CCCAF69-DA39-4FEA-BA80-5C0ACF83C9F0}"/>
    <dgm:cxn modelId="{D7D18E93-AE11-4B38-8390-9C408D914D77}" srcId="{CBFA5703-343D-4FD5-B6CE-028B40E8C641}" destId="{93420261-9B77-4915-8AF1-C51430C600D5}" srcOrd="0" destOrd="0" parTransId="{F70D5E43-2BC8-463B-9E57-F10BAA450C88}" sibTransId="{EDBE4890-D845-4562-8A67-0B9B46E123F9}"/>
    <dgm:cxn modelId="{41556396-DD91-41DD-A35D-E6B55770B5CC}" type="presOf" srcId="{6A891290-E6AC-4F1E-A8EA-BE6BC0388FE2}" destId="{C2567671-B76B-4146-AFA0-C542063CBA7D}" srcOrd="0" destOrd="0" presId="urn:microsoft.com/office/officeart/2005/8/layout/vList5"/>
    <dgm:cxn modelId="{592F39CC-157B-4F1C-890B-5EA63FFD8288}" srcId="{7B71BEF1-07D6-4FC7-9336-CC5B6AA32853}" destId="{A2ABFBD6-0F62-4CFD-B6FC-7B289C0D089B}" srcOrd="0" destOrd="0" parTransId="{82D43544-11DD-41B9-8D05-3321DFC7E0D7}" sibTransId="{697F0C86-CC48-4496-A596-460F3DEFC063}"/>
    <dgm:cxn modelId="{2DB628DC-4EC5-470C-BE05-803BDF28A2A9}" type="presOf" srcId="{93420261-9B77-4915-8AF1-C51430C600D5}" destId="{E31E2340-380E-4C68-856E-483B82BD2ACC}" srcOrd="0" destOrd="0" presId="urn:microsoft.com/office/officeart/2005/8/layout/vList5"/>
    <dgm:cxn modelId="{45EE19F8-779E-4357-A197-19F4184F16C0}" srcId="{A2ABFBD6-0F62-4CFD-B6FC-7B289C0D089B}" destId="{956C112A-89B2-4DEA-B635-FDE3F5A28E31}" srcOrd="0" destOrd="0" parTransId="{BFC267A5-A216-4499-91A2-8CA88D0BEB41}" sibTransId="{1C959F51-4754-4E62-8652-B0DFC23259A7}"/>
    <dgm:cxn modelId="{6AA5D038-7616-4D7B-8B18-B3760C1B0C66}" type="presParOf" srcId="{D5C98F7C-CBBA-43C6-95CA-12369EFDD26F}" destId="{65D9FECB-9DD5-4669-920F-EC0255F79D20}" srcOrd="0" destOrd="0" presId="urn:microsoft.com/office/officeart/2005/8/layout/vList5"/>
    <dgm:cxn modelId="{9791A7E8-11AA-4DA8-BF60-8F16B8EAFE9C}" type="presParOf" srcId="{65D9FECB-9DD5-4669-920F-EC0255F79D20}" destId="{A2CDE86C-78F3-4100-8F17-8BC8C6CBAEE0}" srcOrd="0" destOrd="0" presId="urn:microsoft.com/office/officeart/2005/8/layout/vList5"/>
    <dgm:cxn modelId="{4F2DC336-FF39-4F19-BE73-A944ACDD4678}" type="presParOf" srcId="{65D9FECB-9DD5-4669-920F-EC0255F79D20}" destId="{35368804-1B26-401E-8993-C8BD21870346}" srcOrd="1" destOrd="0" presId="urn:microsoft.com/office/officeart/2005/8/layout/vList5"/>
    <dgm:cxn modelId="{DF015EDC-B393-4345-8D40-114A684F9B96}" type="presParOf" srcId="{D5C98F7C-CBBA-43C6-95CA-12369EFDD26F}" destId="{101D71C4-3DC3-4CE8-905F-0F830E91D342}" srcOrd="1" destOrd="0" presId="urn:microsoft.com/office/officeart/2005/8/layout/vList5"/>
    <dgm:cxn modelId="{1C354CEF-47C2-4EB5-ACA5-56DC138BC224}" type="presParOf" srcId="{D5C98F7C-CBBA-43C6-95CA-12369EFDD26F}" destId="{12524E86-86AE-4317-B63C-74DBFB048A47}" srcOrd="2" destOrd="0" presId="urn:microsoft.com/office/officeart/2005/8/layout/vList5"/>
    <dgm:cxn modelId="{408A2EF1-1015-4804-98EC-01E25F17A312}" type="presParOf" srcId="{12524E86-86AE-4317-B63C-74DBFB048A47}" destId="{165C14A2-FF76-4A0B-B18C-577CB48450F8}" srcOrd="0" destOrd="0" presId="urn:microsoft.com/office/officeart/2005/8/layout/vList5"/>
    <dgm:cxn modelId="{A255B4C6-6086-4229-9108-EDBF6E212DB9}" type="presParOf" srcId="{12524E86-86AE-4317-B63C-74DBFB048A47}" destId="{C2567671-B76B-4146-AFA0-C542063CBA7D}" srcOrd="1" destOrd="0" presId="urn:microsoft.com/office/officeart/2005/8/layout/vList5"/>
    <dgm:cxn modelId="{699B9F0A-411E-4B0E-88D4-F9D4FDC28073}" type="presParOf" srcId="{D5C98F7C-CBBA-43C6-95CA-12369EFDD26F}" destId="{A5A8903B-EF34-47C8-9172-6FE5371CA1D2}" srcOrd="3" destOrd="0" presId="urn:microsoft.com/office/officeart/2005/8/layout/vList5"/>
    <dgm:cxn modelId="{1B31B18D-4D29-4F19-92D0-FD6F461DDAEF}" type="presParOf" srcId="{D5C98F7C-CBBA-43C6-95CA-12369EFDD26F}" destId="{97C3DAD8-BF8C-4FBE-B6CA-4CE9AB2C6471}" srcOrd="4" destOrd="0" presId="urn:microsoft.com/office/officeart/2005/8/layout/vList5"/>
    <dgm:cxn modelId="{9BF181D3-0908-4286-A2F6-02EF773B0DA7}" type="presParOf" srcId="{97C3DAD8-BF8C-4FBE-B6CA-4CE9AB2C6471}" destId="{A66115E3-40C2-4479-B6D6-8F4C1A173807}" srcOrd="0" destOrd="0" presId="urn:microsoft.com/office/officeart/2005/8/layout/vList5"/>
    <dgm:cxn modelId="{D0AB39DD-3243-40CA-91B9-5C2C7BBD3C0B}" type="presParOf" srcId="{97C3DAD8-BF8C-4FBE-B6CA-4CE9AB2C6471}" destId="{E31E2340-380E-4C68-856E-483B82BD2AC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9F8D0D8-D307-40FA-B2DF-510FEB06E572}" type="doc">
      <dgm:prSet loTypeId="urn:microsoft.com/office/officeart/2018/2/layout/IconVerticalSolidList" loCatId="icon" qsTypeId="urn:microsoft.com/office/officeart/2005/8/quickstyle/simple2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46DC5CC9-558D-418F-892C-AEB5FF8EFA18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dirty="0"/>
            <a:t>Studio dei requisiti, leggi e norme europee sulla privacy</a:t>
          </a:r>
          <a:endParaRPr lang="en-US" dirty="0"/>
        </a:p>
      </dgm:t>
    </dgm:pt>
    <dgm:pt modelId="{8301E89D-7D84-4A71-9BDA-DD0E357379A7}" type="parTrans" cxnId="{9079CF5E-26A4-4EB0-ADE9-C995C6B38F2F}">
      <dgm:prSet/>
      <dgm:spPr/>
      <dgm:t>
        <a:bodyPr/>
        <a:lstStyle/>
        <a:p>
          <a:endParaRPr lang="en-US"/>
        </a:p>
      </dgm:t>
    </dgm:pt>
    <dgm:pt modelId="{665F6A09-3CB7-4AAB-BA92-399D22872A99}" type="sibTrans" cxnId="{9079CF5E-26A4-4EB0-ADE9-C995C6B38F2F}">
      <dgm:prSet/>
      <dgm:spPr/>
      <dgm:t>
        <a:bodyPr/>
        <a:lstStyle/>
        <a:p>
          <a:endParaRPr lang="en-US"/>
        </a:p>
      </dgm:t>
    </dgm:pt>
    <dgm:pt modelId="{60802A00-FC56-454F-A555-A58F0246F39F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dirty="0"/>
            <a:t>Creazione materiale/test</a:t>
          </a:r>
          <a:endParaRPr lang="en-US" dirty="0"/>
        </a:p>
      </dgm:t>
    </dgm:pt>
    <dgm:pt modelId="{4B3317F3-D9D3-4DAA-90E6-882FEE9A1964}" type="parTrans" cxnId="{0343EF59-2406-4EFF-8627-9E0F4892447F}">
      <dgm:prSet/>
      <dgm:spPr/>
      <dgm:t>
        <a:bodyPr/>
        <a:lstStyle/>
        <a:p>
          <a:endParaRPr lang="en-US"/>
        </a:p>
      </dgm:t>
    </dgm:pt>
    <dgm:pt modelId="{E5E62684-DEED-4F69-B96E-57001A8CF093}" type="sibTrans" cxnId="{0343EF59-2406-4EFF-8627-9E0F4892447F}">
      <dgm:prSet/>
      <dgm:spPr/>
      <dgm:t>
        <a:bodyPr/>
        <a:lstStyle/>
        <a:p>
          <a:endParaRPr lang="en-US"/>
        </a:p>
      </dgm:t>
    </dgm:pt>
    <dgm:pt modelId="{72613F22-2386-4544-8350-A28572BB79AE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dirty="0"/>
            <a:t>Ricerca dello strumento da utilizzare, compresa analisi audio e dei costi</a:t>
          </a:r>
          <a:endParaRPr lang="en-US" dirty="0"/>
        </a:p>
      </dgm:t>
    </dgm:pt>
    <dgm:pt modelId="{5A997AE1-7268-45E5-9391-7137012DAA18}" type="parTrans" cxnId="{0B75E240-0A27-4B4E-B1D9-6A58F8A6D510}">
      <dgm:prSet/>
      <dgm:spPr/>
      <dgm:t>
        <a:bodyPr/>
        <a:lstStyle/>
        <a:p>
          <a:endParaRPr lang="en-US"/>
        </a:p>
      </dgm:t>
    </dgm:pt>
    <dgm:pt modelId="{DF85C8C0-F00F-4433-8AFF-1355D3348D80}" type="sibTrans" cxnId="{0B75E240-0A27-4B4E-B1D9-6A58F8A6D510}">
      <dgm:prSet/>
      <dgm:spPr/>
      <dgm:t>
        <a:bodyPr/>
        <a:lstStyle/>
        <a:p>
          <a:endParaRPr lang="en-US"/>
        </a:p>
      </dgm:t>
    </dgm:pt>
    <dgm:pt modelId="{F9E10406-1E63-48B4-B8B5-CD1032FCFACD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dirty="0"/>
            <a:t>Test delle varie soluzioni</a:t>
          </a:r>
          <a:endParaRPr lang="en-US" dirty="0"/>
        </a:p>
      </dgm:t>
    </dgm:pt>
    <dgm:pt modelId="{C4120151-079D-4CDD-B397-642543E6B016}" type="parTrans" cxnId="{1129FB3A-7D1E-4134-AF76-05C728CCB38A}">
      <dgm:prSet/>
      <dgm:spPr/>
      <dgm:t>
        <a:bodyPr/>
        <a:lstStyle/>
        <a:p>
          <a:endParaRPr lang="en-US"/>
        </a:p>
      </dgm:t>
    </dgm:pt>
    <dgm:pt modelId="{C4A638F4-15E7-4BEC-AB99-F634E7B64BAF}" type="sibTrans" cxnId="{1129FB3A-7D1E-4134-AF76-05C728CCB38A}">
      <dgm:prSet/>
      <dgm:spPr/>
      <dgm:t>
        <a:bodyPr/>
        <a:lstStyle/>
        <a:p>
          <a:endParaRPr lang="en-US"/>
        </a:p>
      </dgm:t>
    </dgm:pt>
    <dgm:pt modelId="{EF820038-313A-409E-8ABC-E23DFE6875FE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dirty="0"/>
            <a:t>Scelta del modello da sfruttare</a:t>
          </a:r>
          <a:endParaRPr lang="en-US" dirty="0"/>
        </a:p>
      </dgm:t>
    </dgm:pt>
    <dgm:pt modelId="{6F6AE869-B6A8-4DA4-95CD-E6099DD6F034}" type="parTrans" cxnId="{B27E2D3B-0664-4FD1-A5F1-10DE4FFC9758}">
      <dgm:prSet/>
      <dgm:spPr/>
      <dgm:t>
        <a:bodyPr/>
        <a:lstStyle/>
        <a:p>
          <a:endParaRPr lang="en-US"/>
        </a:p>
      </dgm:t>
    </dgm:pt>
    <dgm:pt modelId="{43D41E75-A496-4AF4-B17F-02FB433E1701}" type="sibTrans" cxnId="{B27E2D3B-0664-4FD1-A5F1-10DE4FFC9758}">
      <dgm:prSet/>
      <dgm:spPr/>
      <dgm:t>
        <a:bodyPr/>
        <a:lstStyle/>
        <a:p>
          <a:endParaRPr lang="en-US"/>
        </a:p>
      </dgm:t>
    </dgm:pt>
    <dgm:pt modelId="{4DE04FED-4FA1-4CA9-AE79-632C25AD2123}" type="pres">
      <dgm:prSet presAssocID="{29F8D0D8-D307-40FA-B2DF-510FEB06E572}" presName="root" presStyleCnt="0">
        <dgm:presLayoutVars>
          <dgm:dir/>
          <dgm:resizeHandles val="exact"/>
        </dgm:presLayoutVars>
      </dgm:prSet>
      <dgm:spPr/>
    </dgm:pt>
    <dgm:pt modelId="{14B3E56F-CA19-43DF-A833-D3A96A2A6976}" type="pres">
      <dgm:prSet presAssocID="{46DC5CC9-558D-418F-892C-AEB5FF8EFA18}" presName="compNode" presStyleCnt="0"/>
      <dgm:spPr/>
    </dgm:pt>
    <dgm:pt modelId="{31855FE1-F615-4BFE-94CB-CD77F0C312FA}" type="pres">
      <dgm:prSet presAssocID="{46DC5CC9-558D-418F-892C-AEB5FF8EFA18}" presName="bgRect" presStyleLbl="bgShp" presStyleIdx="0" presStyleCnt="5"/>
      <dgm:spPr/>
    </dgm:pt>
    <dgm:pt modelId="{B81FA772-3934-42AB-BB3A-99555F3E15DF}" type="pres">
      <dgm:prSet presAssocID="{46DC5CC9-558D-418F-892C-AEB5FF8EFA18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C1AE7D09-8D00-469E-893C-196AD7ACD39B}" type="pres">
      <dgm:prSet presAssocID="{46DC5CC9-558D-418F-892C-AEB5FF8EFA18}" presName="spaceRect" presStyleCnt="0"/>
      <dgm:spPr/>
    </dgm:pt>
    <dgm:pt modelId="{6B91A366-85F6-4D5B-ABAE-421C450E7790}" type="pres">
      <dgm:prSet presAssocID="{46DC5CC9-558D-418F-892C-AEB5FF8EFA18}" presName="parTx" presStyleLbl="revTx" presStyleIdx="0" presStyleCnt="5">
        <dgm:presLayoutVars>
          <dgm:chMax val="0"/>
          <dgm:chPref val="0"/>
        </dgm:presLayoutVars>
      </dgm:prSet>
      <dgm:spPr/>
    </dgm:pt>
    <dgm:pt modelId="{4B5DE090-CD56-4DCF-BA47-55D179202D90}" type="pres">
      <dgm:prSet presAssocID="{665F6A09-3CB7-4AAB-BA92-399D22872A99}" presName="sibTrans" presStyleCnt="0"/>
      <dgm:spPr/>
    </dgm:pt>
    <dgm:pt modelId="{4DBA4A43-CBDA-4500-8061-8A496B5308A1}" type="pres">
      <dgm:prSet presAssocID="{60802A00-FC56-454F-A555-A58F0246F39F}" presName="compNode" presStyleCnt="0"/>
      <dgm:spPr/>
    </dgm:pt>
    <dgm:pt modelId="{4640FB5B-7BD2-442C-A395-5DC32E5D5FA2}" type="pres">
      <dgm:prSet presAssocID="{60802A00-FC56-454F-A555-A58F0246F39F}" presName="bgRect" presStyleLbl="bgShp" presStyleIdx="1" presStyleCnt="5"/>
      <dgm:spPr/>
    </dgm:pt>
    <dgm:pt modelId="{0560B791-17CD-4652-A3A3-B9D8D7C79647}" type="pres">
      <dgm:prSet presAssocID="{60802A00-FC56-454F-A555-A58F0246F39F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enna stilografica contorno"/>
        </a:ext>
      </dgm:extLst>
    </dgm:pt>
    <dgm:pt modelId="{88E38265-513F-4FE5-A602-C4F05A4F87C2}" type="pres">
      <dgm:prSet presAssocID="{60802A00-FC56-454F-A555-A58F0246F39F}" presName="spaceRect" presStyleCnt="0"/>
      <dgm:spPr/>
    </dgm:pt>
    <dgm:pt modelId="{75F7542F-9CDA-42C1-B279-774912193174}" type="pres">
      <dgm:prSet presAssocID="{60802A00-FC56-454F-A555-A58F0246F39F}" presName="parTx" presStyleLbl="revTx" presStyleIdx="1" presStyleCnt="5">
        <dgm:presLayoutVars>
          <dgm:chMax val="0"/>
          <dgm:chPref val="0"/>
        </dgm:presLayoutVars>
      </dgm:prSet>
      <dgm:spPr/>
    </dgm:pt>
    <dgm:pt modelId="{F96F3C41-7B62-46D3-AA82-5F05EEBE7DF8}" type="pres">
      <dgm:prSet presAssocID="{E5E62684-DEED-4F69-B96E-57001A8CF093}" presName="sibTrans" presStyleCnt="0"/>
      <dgm:spPr/>
    </dgm:pt>
    <dgm:pt modelId="{808E2942-9A78-49EE-9D78-E7684363DE65}" type="pres">
      <dgm:prSet presAssocID="{72613F22-2386-4544-8350-A28572BB79AE}" presName="compNode" presStyleCnt="0"/>
      <dgm:spPr/>
    </dgm:pt>
    <dgm:pt modelId="{15B11934-9E6E-4339-A0BA-5A27ED46DE9A}" type="pres">
      <dgm:prSet presAssocID="{72613F22-2386-4544-8350-A28572BB79AE}" presName="bgRect" presStyleLbl="bgShp" presStyleIdx="2" presStyleCnt="5"/>
      <dgm:spPr/>
    </dgm:pt>
    <dgm:pt modelId="{62B7A9D5-2A95-460A-B6C9-F1AF1E315918}" type="pres">
      <dgm:prSet presAssocID="{72613F22-2386-4544-8350-A28572BB79AE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FF3D70AE-B0E9-4062-B6B8-8ED28E7225AD}" type="pres">
      <dgm:prSet presAssocID="{72613F22-2386-4544-8350-A28572BB79AE}" presName="spaceRect" presStyleCnt="0"/>
      <dgm:spPr/>
    </dgm:pt>
    <dgm:pt modelId="{EA138DA6-9C89-42DA-8FE2-9769A76A7938}" type="pres">
      <dgm:prSet presAssocID="{72613F22-2386-4544-8350-A28572BB79AE}" presName="parTx" presStyleLbl="revTx" presStyleIdx="2" presStyleCnt="5">
        <dgm:presLayoutVars>
          <dgm:chMax val="0"/>
          <dgm:chPref val="0"/>
        </dgm:presLayoutVars>
      </dgm:prSet>
      <dgm:spPr/>
    </dgm:pt>
    <dgm:pt modelId="{B906E676-C553-4D38-9147-785802BF9DEF}" type="pres">
      <dgm:prSet presAssocID="{DF85C8C0-F00F-4433-8AFF-1355D3348D80}" presName="sibTrans" presStyleCnt="0"/>
      <dgm:spPr/>
    </dgm:pt>
    <dgm:pt modelId="{A3A26A0C-7EB0-476F-900F-CF415ADEC7D9}" type="pres">
      <dgm:prSet presAssocID="{F9E10406-1E63-48B4-B8B5-CD1032FCFACD}" presName="compNode" presStyleCnt="0"/>
      <dgm:spPr/>
    </dgm:pt>
    <dgm:pt modelId="{960C86EC-7BA7-4544-9164-456B53380329}" type="pres">
      <dgm:prSet presAssocID="{F9E10406-1E63-48B4-B8B5-CD1032FCFACD}" presName="bgRect" presStyleLbl="bgShp" presStyleIdx="3" presStyleCnt="5"/>
      <dgm:spPr/>
    </dgm:pt>
    <dgm:pt modelId="{7DB891EC-A501-47F7-BE27-AE2F782C37C5}" type="pres">
      <dgm:prSet presAssocID="{F9E10406-1E63-48B4-B8B5-CD1032FCFACD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ppunti mischiati con riempimento a tinta unita"/>
        </a:ext>
      </dgm:extLst>
    </dgm:pt>
    <dgm:pt modelId="{B3D13C77-9430-4976-839F-E0C19204B53D}" type="pres">
      <dgm:prSet presAssocID="{F9E10406-1E63-48B4-B8B5-CD1032FCFACD}" presName="spaceRect" presStyleCnt="0"/>
      <dgm:spPr/>
    </dgm:pt>
    <dgm:pt modelId="{3005D80D-A8E8-4543-950D-535D05461848}" type="pres">
      <dgm:prSet presAssocID="{F9E10406-1E63-48B4-B8B5-CD1032FCFACD}" presName="parTx" presStyleLbl="revTx" presStyleIdx="3" presStyleCnt="5">
        <dgm:presLayoutVars>
          <dgm:chMax val="0"/>
          <dgm:chPref val="0"/>
        </dgm:presLayoutVars>
      </dgm:prSet>
      <dgm:spPr/>
    </dgm:pt>
    <dgm:pt modelId="{E5542BE2-2F86-4CC7-A81B-CBC53DDCA8E9}" type="pres">
      <dgm:prSet presAssocID="{C4A638F4-15E7-4BEC-AB99-F634E7B64BAF}" presName="sibTrans" presStyleCnt="0"/>
      <dgm:spPr/>
    </dgm:pt>
    <dgm:pt modelId="{5B976797-33E2-40F4-B689-5588BAB42319}" type="pres">
      <dgm:prSet presAssocID="{EF820038-313A-409E-8ABC-E23DFE6875FE}" presName="compNode" presStyleCnt="0"/>
      <dgm:spPr/>
    </dgm:pt>
    <dgm:pt modelId="{FE874DE4-94A6-420A-BC82-DF064A180F39}" type="pres">
      <dgm:prSet presAssocID="{EF820038-313A-409E-8ABC-E23DFE6875FE}" presName="bgRect" presStyleLbl="bgShp" presStyleIdx="4" presStyleCnt="5"/>
      <dgm:spPr/>
    </dgm:pt>
    <dgm:pt modelId="{678DF1D1-708F-4BD3-A882-7F26A2FA3834}" type="pres">
      <dgm:prSet presAssocID="{EF820038-313A-409E-8ABC-E23DFE6875FE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0C72309-FA43-45DE-8E25-C1B04D01958E}" type="pres">
      <dgm:prSet presAssocID="{EF820038-313A-409E-8ABC-E23DFE6875FE}" presName="spaceRect" presStyleCnt="0"/>
      <dgm:spPr/>
    </dgm:pt>
    <dgm:pt modelId="{6D19717E-57B9-4FEC-85EC-1D2BA461376E}" type="pres">
      <dgm:prSet presAssocID="{EF820038-313A-409E-8ABC-E23DFE6875FE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13523331-3AED-4A3F-9BAD-AF38F86A2064}" type="presOf" srcId="{EF820038-313A-409E-8ABC-E23DFE6875FE}" destId="{6D19717E-57B9-4FEC-85EC-1D2BA461376E}" srcOrd="0" destOrd="0" presId="urn:microsoft.com/office/officeart/2018/2/layout/IconVerticalSolidList"/>
    <dgm:cxn modelId="{91AEF433-4D6D-48BF-BBCF-D4C4BF4A1B66}" type="presOf" srcId="{29F8D0D8-D307-40FA-B2DF-510FEB06E572}" destId="{4DE04FED-4FA1-4CA9-AE79-632C25AD2123}" srcOrd="0" destOrd="0" presId="urn:microsoft.com/office/officeart/2018/2/layout/IconVerticalSolidList"/>
    <dgm:cxn modelId="{1129FB3A-7D1E-4134-AF76-05C728CCB38A}" srcId="{29F8D0D8-D307-40FA-B2DF-510FEB06E572}" destId="{F9E10406-1E63-48B4-B8B5-CD1032FCFACD}" srcOrd="3" destOrd="0" parTransId="{C4120151-079D-4CDD-B397-642543E6B016}" sibTransId="{C4A638F4-15E7-4BEC-AB99-F634E7B64BAF}"/>
    <dgm:cxn modelId="{B27E2D3B-0664-4FD1-A5F1-10DE4FFC9758}" srcId="{29F8D0D8-D307-40FA-B2DF-510FEB06E572}" destId="{EF820038-313A-409E-8ABC-E23DFE6875FE}" srcOrd="4" destOrd="0" parTransId="{6F6AE869-B6A8-4DA4-95CD-E6099DD6F034}" sibTransId="{43D41E75-A496-4AF4-B17F-02FB433E1701}"/>
    <dgm:cxn modelId="{0B75E240-0A27-4B4E-B1D9-6A58F8A6D510}" srcId="{29F8D0D8-D307-40FA-B2DF-510FEB06E572}" destId="{72613F22-2386-4544-8350-A28572BB79AE}" srcOrd="2" destOrd="0" parTransId="{5A997AE1-7268-45E5-9391-7137012DAA18}" sibTransId="{DF85C8C0-F00F-4433-8AFF-1355D3348D80}"/>
    <dgm:cxn modelId="{9079CF5E-26A4-4EB0-ADE9-C995C6B38F2F}" srcId="{29F8D0D8-D307-40FA-B2DF-510FEB06E572}" destId="{46DC5CC9-558D-418F-892C-AEB5FF8EFA18}" srcOrd="0" destOrd="0" parTransId="{8301E89D-7D84-4A71-9BDA-DD0E357379A7}" sibTransId="{665F6A09-3CB7-4AAB-BA92-399D22872A99}"/>
    <dgm:cxn modelId="{69E5994C-14F6-48B9-8D84-15D7199E57AB}" type="presOf" srcId="{72613F22-2386-4544-8350-A28572BB79AE}" destId="{EA138DA6-9C89-42DA-8FE2-9769A76A7938}" srcOrd="0" destOrd="0" presId="urn:microsoft.com/office/officeart/2018/2/layout/IconVerticalSolidList"/>
    <dgm:cxn modelId="{0343EF59-2406-4EFF-8627-9E0F4892447F}" srcId="{29F8D0D8-D307-40FA-B2DF-510FEB06E572}" destId="{60802A00-FC56-454F-A555-A58F0246F39F}" srcOrd="1" destOrd="0" parTransId="{4B3317F3-D9D3-4DAA-90E6-882FEE9A1964}" sibTransId="{E5E62684-DEED-4F69-B96E-57001A8CF093}"/>
    <dgm:cxn modelId="{2FAAD380-408D-44F7-B8BF-E8B1F9FAABD2}" type="presOf" srcId="{46DC5CC9-558D-418F-892C-AEB5FF8EFA18}" destId="{6B91A366-85F6-4D5B-ABAE-421C450E7790}" srcOrd="0" destOrd="0" presId="urn:microsoft.com/office/officeart/2018/2/layout/IconVerticalSolidList"/>
    <dgm:cxn modelId="{34B91385-9ED1-413B-A067-C7D2C7383223}" type="presOf" srcId="{60802A00-FC56-454F-A555-A58F0246F39F}" destId="{75F7542F-9CDA-42C1-B279-774912193174}" srcOrd="0" destOrd="0" presId="urn:microsoft.com/office/officeart/2018/2/layout/IconVerticalSolidList"/>
    <dgm:cxn modelId="{07D82ACE-DDF8-43FA-9C94-67EBD32197D8}" type="presOf" srcId="{F9E10406-1E63-48B4-B8B5-CD1032FCFACD}" destId="{3005D80D-A8E8-4543-950D-535D05461848}" srcOrd="0" destOrd="0" presId="urn:microsoft.com/office/officeart/2018/2/layout/IconVerticalSolidList"/>
    <dgm:cxn modelId="{6B97B8A7-41CA-4986-8B40-FB3DF9001F3B}" type="presParOf" srcId="{4DE04FED-4FA1-4CA9-AE79-632C25AD2123}" destId="{14B3E56F-CA19-43DF-A833-D3A96A2A6976}" srcOrd="0" destOrd="0" presId="urn:microsoft.com/office/officeart/2018/2/layout/IconVerticalSolidList"/>
    <dgm:cxn modelId="{B3D7462F-A0A0-41B2-90D1-E4C2B7B8114E}" type="presParOf" srcId="{14B3E56F-CA19-43DF-A833-D3A96A2A6976}" destId="{31855FE1-F615-4BFE-94CB-CD77F0C312FA}" srcOrd="0" destOrd="0" presId="urn:microsoft.com/office/officeart/2018/2/layout/IconVerticalSolidList"/>
    <dgm:cxn modelId="{9775E387-8A7A-40F8-A581-11A55E18A98F}" type="presParOf" srcId="{14B3E56F-CA19-43DF-A833-D3A96A2A6976}" destId="{B81FA772-3934-42AB-BB3A-99555F3E15DF}" srcOrd="1" destOrd="0" presId="urn:microsoft.com/office/officeart/2018/2/layout/IconVerticalSolidList"/>
    <dgm:cxn modelId="{80F9DE73-A88E-4341-81E7-CB72A4032D47}" type="presParOf" srcId="{14B3E56F-CA19-43DF-A833-D3A96A2A6976}" destId="{C1AE7D09-8D00-469E-893C-196AD7ACD39B}" srcOrd="2" destOrd="0" presId="urn:microsoft.com/office/officeart/2018/2/layout/IconVerticalSolidList"/>
    <dgm:cxn modelId="{5CACAB44-36DD-4FF3-AD98-20B9FCEF41C2}" type="presParOf" srcId="{14B3E56F-CA19-43DF-A833-D3A96A2A6976}" destId="{6B91A366-85F6-4D5B-ABAE-421C450E7790}" srcOrd="3" destOrd="0" presId="urn:microsoft.com/office/officeart/2018/2/layout/IconVerticalSolidList"/>
    <dgm:cxn modelId="{FF82BE4A-2493-4E74-B4FC-ABAF8963F6D1}" type="presParOf" srcId="{4DE04FED-4FA1-4CA9-AE79-632C25AD2123}" destId="{4B5DE090-CD56-4DCF-BA47-55D179202D90}" srcOrd="1" destOrd="0" presId="urn:microsoft.com/office/officeart/2018/2/layout/IconVerticalSolidList"/>
    <dgm:cxn modelId="{3A5E409E-D301-4510-AD78-218396AA8CA8}" type="presParOf" srcId="{4DE04FED-4FA1-4CA9-AE79-632C25AD2123}" destId="{4DBA4A43-CBDA-4500-8061-8A496B5308A1}" srcOrd="2" destOrd="0" presId="urn:microsoft.com/office/officeart/2018/2/layout/IconVerticalSolidList"/>
    <dgm:cxn modelId="{BA02426A-9999-4B88-8E49-3A43F6C86210}" type="presParOf" srcId="{4DBA4A43-CBDA-4500-8061-8A496B5308A1}" destId="{4640FB5B-7BD2-442C-A395-5DC32E5D5FA2}" srcOrd="0" destOrd="0" presId="urn:microsoft.com/office/officeart/2018/2/layout/IconVerticalSolidList"/>
    <dgm:cxn modelId="{ADA44664-3C8D-47AD-B535-A3CC162E2038}" type="presParOf" srcId="{4DBA4A43-CBDA-4500-8061-8A496B5308A1}" destId="{0560B791-17CD-4652-A3A3-B9D8D7C79647}" srcOrd="1" destOrd="0" presId="urn:microsoft.com/office/officeart/2018/2/layout/IconVerticalSolidList"/>
    <dgm:cxn modelId="{B7FC8EB4-E7B1-4A7E-97CA-2A2BDF646D70}" type="presParOf" srcId="{4DBA4A43-CBDA-4500-8061-8A496B5308A1}" destId="{88E38265-513F-4FE5-A602-C4F05A4F87C2}" srcOrd="2" destOrd="0" presId="urn:microsoft.com/office/officeart/2018/2/layout/IconVerticalSolidList"/>
    <dgm:cxn modelId="{A2DC7770-8C6F-4EFE-8D82-5693E6F563A6}" type="presParOf" srcId="{4DBA4A43-CBDA-4500-8061-8A496B5308A1}" destId="{75F7542F-9CDA-42C1-B279-774912193174}" srcOrd="3" destOrd="0" presId="urn:microsoft.com/office/officeart/2018/2/layout/IconVerticalSolidList"/>
    <dgm:cxn modelId="{2462D5DD-E659-434F-AC64-E8FAE22232BE}" type="presParOf" srcId="{4DE04FED-4FA1-4CA9-AE79-632C25AD2123}" destId="{F96F3C41-7B62-46D3-AA82-5F05EEBE7DF8}" srcOrd="3" destOrd="0" presId="urn:microsoft.com/office/officeart/2018/2/layout/IconVerticalSolidList"/>
    <dgm:cxn modelId="{2D439355-D5E8-4047-8FCF-C8D023BDB541}" type="presParOf" srcId="{4DE04FED-4FA1-4CA9-AE79-632C25AD2123}" destId="{808E2942-9A78-49EE-9D78-E7684363DE65}" srcOrd="4" destOrd="0" presId="urn:microsoft.com/office/officeart/2018/2/layout/IconVerticalSolidList"/>
    <dgm:cxn modelId="{1E41A28B-0F2A-445F-AEF8-AB4683B2857F}" type="presParOf" srcId="{808E2942-9A78-49EE-9D78-E7684363DE65}" destId="{15B11934-9E6E-4339-A0BA-5A27ED46DE9A}" srcOrd="0" destOrd="0" presId="urn:microsoft.com/office/officeart/2018/2/layout/IconVerticalSolidList"/>
    <dgm:cxn modelId="{8482C2C6-DE3B-4A3C-9243-99C2C809B406}" type="presParOf" srcId="{808E2942-9A78-49EE-9D78-E7684363DE65}" destId="{62B7A9D5-2A95-460A-B6C9-F1AF1E315918}" srcOrd="1" destOrd="0" presId="urn:microsoft.com/office/officeart/2018/2/layout/IconVerticalSolidList"/>
    <dgm:cxn modelId="{6D6FE761-73E3-43E4-AE3F-385ABF0A3B58}" type="presParOf" srcId="{808E2942-9A78-49EE-9D78-E7684363DE65}" destId="{FF3D70AE-B0E9-4062-B6B8-8ED28E7225AD}" srcOrd="2" destOrd="0" presId="urn:microsoft.com/office/officeart/2018/2/layout/IconVerticalSolidList"/>
    <dgm:cxn modelId="{1278EB2D-F1FC-4D5A-9AD9-82241D5DBAC0}" type="presParOf" srcId="{808E2942-9A78-49EE-9D78-E7684363DE65}" destId="{EA138DA6-9C89-42DA-8FE2-9769A76A7938}" srcOrd="3" destOrd="0" presId="urn:microsoft.com/office/officeart/2018/2/layout/IconVerticalSolidList"/>
    <dgm:cxn modelId="{ECAF7402-A117-4306-BA0A-257838D3DDBE}" type="presParOf" srcId="{4DE04FED-4FA1-4CA9-AE79-632C25AD2123}" destId="{B906E676-C553-4D38-9147-785802BF9DEF}" srcOrd="5" destOrd="0" presId="urn:microsoft.com/office/officeart/2018/2/layout/IconVerticalSolidList"/>
    <dgm:cxn modelId="{569F8D55-0B8E-4155-A40F-59D01691CB9E}" type="presParOf" srcId="{4DE04FED-4FA1-4CA9-AE79-632C25AD2123}" destId="{A3A26A0C-7EB0-476F-900F-CF415ADEC7D9}" srcOrd="6" destOrd="0" presId="urn:microsoft.com/office/officeart/2018/2/layout/IconVerticalSolidList"/>
    <dgm:cxn modelId="{BFDC151B-46CD-4F33-AA16-2C6B6475DF15}" type="presParOf" srcId="{A3A26A0C-7EB0-476F-900F-CF415ADEC7D9}" destId="{960C86EC-7BA7-4544-9164-456B53380329}" srcOrd="0" destOrd="0" presId="urn:microsoft.com/office/officeart/2018/2/layout/IconVerticalSolidList"/>
    <dgm:cxn modelId="{189DBC90-20B6-4C81-8AEA-261C5B25F561}" type="presParOf" srcId="{A3A26A0C-7EB0-476F-900F-CF415ADEC7D9}" destId="{7DB891EC-A501-47F7-BE27-AE2F782C37C5}" srcOrd="1" destOrd="0" presId="urn:microsoft.com/office/officeart/2018/2/layout/IconVerticalSolidList"/>
    <dgm:cxn modelId="{B3ADDC84-8F28-4337-9C7E-E74A426EA4FE}" type="presParOf" srcId="{A3A26A0C-7EB0-476F-900F-CF415ADEC7D9}" destId="{B3D13C77-9430-4976-839F-E0C19204B53D}" srcOrd="2" destOrd="0" presId="urn:microsoft.com/office/officeart/2018/2/layout/IconVerticalSolidList"/>
    <dgm:cxn modelId="{232CB719-87FD-4335-89B1-A1C007DA6A9E}" type="presParOf" srcId="{A3A26A0C-7EB0-476F-900F-CF415ADEC7D9}" destId="{3005D80D-A8E8-4543-950D-535D05461848}" srcOrd="3" destOrd="0" presId="urn:microsoft.com/office/officeart/2018/2/layout/IconVerticalSolidList"/>
    <dgm:cxn modelId="{7F1D2250-0A0E-4C52-A7A7-B26CB7F74665}" type="presParOf" srcId="{4DE04FED-4FA1-4CA9-AE79-632C25AD2123}" destId="{E5542BE2-2F86-4CC7-A81B-CBC53DDCA8E9}" srcOrd="7" destOrd="0" presId="urn:microsoft.com/office/officeart/2018/2/layout/IconVerticalSolidList"/>
    <dgm:cxn modelId="{FB099EAC-B9A3-45D4-8074-3B424D748A26}" type="presParOf" srcId="{4DE04FED-4FA1-4CA9-AE79-632C25AD2123}" destId="{5B976797-33E2-40F4-B689-5588BAB42319}" srcOrd="8" destOrd="0" presId="urn:microsoft.com/office/officeart/2018/2/layout/IconVerticalSolidList"/>
    <dgm:cxn modelId="{7F56CE0C-7545-4D67-A98F-F1A54CB8E20B}" type="presParOf" srcId="{5B976797-33E2-40F4-B689-5588BAB42319}" destId="{FE874DE4-94A6-420A-BC82-DF064A180F39}" srcOrd="0" destOrd="0" presId="urn:microsoft.com/office/officeart/2018/2/layout/IconVerticalSolidList"/>
    <dgm:cxn modelId="{6DD8F01F-7874-4EAB-B166-53EC5EF044DD}" type="presParOf" srcId="{5B976797-33E2-40F4-B689-5588BAB42319}" destId="{678DF1D1-708F-4BD3-A882-7F26A2FA3834}" srcOrd="1" destOrd="0" presId="urn:microsoft.com/office/officeart/2018/2/layout/IconVerticalSolidList"/>
    <dgm:cxn modelId="{EEBCC612-7ADF-4896-AFD0-CC0ADA93657B}" type="presParOf" srcId="{5B976797-33E2-40F4-B689-5588BAB42319}" destId="{F0C72309-FA43-45DE-8E25-C1B04D01958E}" srcOrd="2" destOrd="0" presId="urn:microsoft.com/office/officeart/2018/2/layout/IconVerticalSolidList"/>
    <dgm:cxn modelId="{12EBFD3D-11F2-4B22-8478-22929827A95C}" type="presParOf" srcId="{5B976797-33E2-40F4-B689-5588BAB42319}" destId="{6D19717E-57B9-4FEC-85EC-1D2BA461376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368804-1B26-401E-8993-C8BD21870346}">
      <dsp:nvSpPr>
        <dsp:cNvPr id="0" name=""/>
        <dsp:cNvSpPr/>
      </dsp:nvSpPr>
      <dsp:spPr>
        <a:xfrm rot="5400000">
          <a:off x="6589693" y="-1200698"/>
          <a:ext cx="1121829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2400" kern="1200" dirty="0"/>
            <a:t>Applicazione di un similarity score per il confronto tra ground truth e output AI</a:t>
          </a:r>
        </a:p>
      </dsp:txBody>
      <dsp:txXfrm rot="-5400000">
        <a:off x="3785616" y="1658142"/>
        <a:ext cx="6675221" cy="1012303"/>
      </dsp:txXfrm>
    </dsp:sp>
    <dsp:sp modelId="{A2CDE86C-78F3-4100-8F17-8BC8C6CBAEE0}">
      <dsp:nvSpPr>
        <dsp:cNvPr id="0" name=""/>
        <dsp:cNvSpPr/>
      </dsp:nvSpPr>
      <dsp:spPr>
        <a:xfrm>
          <a:off x="0" y="2124"/>
          <a:ext cx="3785616" cy="1402286"/>
        </a:xfrm>
        <a:prstGeom prst="roundRect">
          <a:avLst/>
        </a:prstGeom>
        <a:solidFill>
          <a:schemeClr val="accent5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200" kern="1200" dirty="0"/>
            <a:t>SPEECH-TO-TEXT</a:t>
          </a:r>
          <a:endParaRPr lang="it-IT" sz="1800" kern="1200" dirty="0"/>
        </a:p>
      </dsp:txBody>
      <dsp:txXfrm>
        <a:off x="68454" y="70578"/>
        <a:ext cx="3648708" cy="1265378"/>
      </dsp:txXfrm>
    </dsp:sp>
    <dsp:sp modelId="{C2567671-B76B-4146-AFA0-C542063CBA7D}">
      <dsp:nvSpPr>
        <dsp:cNvPr id="0" name=""/>
        <dsp:cNvSpPr/>
      </dsp:nvSpPr>
      <dsp:spPr>
        <a:xfrm rot="5400000">
          <a:off x="6589693" y="-2683824"/>
          <a:ext cx="1121829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2400" kern="1200" dirty="0"/>
            <a:t>Convertire sedute .mp4 in .txt</a:t>
          </a:r>
        </a:p>
      </dsp:txBody>
      <dsp:txXfrm rot="-5400000">
        <a:off x="3785616" y="175016"/>
        <a:ext cx="6675221" cy="1012303"/>
      </dsp:txXfrm>
    </dsp:sp>
    <dsp:sp modelId="{165C14A2-FF76-4A0B-B18C-577CB48450F8}">
      <dsp:nvSpPr>
        <dsp:cNvPr id="0" name=""/>
        <dsp:cNvSpPr/>
      </dsp:nvSpPr>
      <dsp:spPr>
        <a:xfrm>
          <a:off x="0" y="1474525"/>
          <a:ext cx="3785616" cy="1402286"/>
        </a:xfrm>
        <a:prstGeom prst="roundRect">
          <a:avLst/>
        </a:prstGeom>
        <a:solidFill>
          <a:schemeClr val="accent5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200" kern="1200" dirty="0"/>
            <a:t>VALUTAZIONE ACCURATEZZA</a:t>
          </a:r>
        </a:p>
      </dsp:txBody>
      <dsp:txXfrm>
        <a:off x="68454" y="1542979"/>
        <a:ext cx="3648708" cy="1265378"/>
      </dsp:txXfrm>
    </dsp:sp>
    <dsp:sp modelId="{E31E2340-380E-4C68-856E-483B82BD2ACC}">
      <dsp:nvSpPr>
        <dsp:cNvPr id="0" name=""/>
        <dsp:cNvSpPr/>
      </dsp:nvSpPr>
      <dsp:spPr>
        <a:xfrm rot="5400000">
          <a:off x="6589693" y="283077"/>
          <a:ext cx="1121829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2400" kern="1200" dirty="0"/>
            <a:t>Migliorare</a:t>
          </a:r>
          <a:r>
            <a:rPr lang="it-IT" sz="2400" kern="1200" baseline="0" dirty="0"/>
            <a:t> l’accuratezza con l’uso di LLM</a:t>
          </a:r>
          <a:endParaRPr lang="it-IT" sz="2400" kern="1200" dirty="0"/>
        </a:p>
      </dsp:txBody>
      <dsp:txXfrm rot="-5400000">
        <a:off x="3785616" y="3141918"/>
        <a:ext cx="6675221" cy="1012303"/>
      </dsp:txXfrm>
    </dsp:sp>
    <dsp:sp modelId="{A66115E3-40C2-4479-B6D6-8F4C1A173807}">
      <dsp:nvSpPr>
        <dsp:cNvPr id="0" name=""/>
        <dsp:cNvSpPr/>
      </dsp:nvSpPr>
      <dsp:spPr>
        <a:xfrm>
          <a:off x="0" y="2946926"/>
          <a:ext cx="3785616" cy="1402286"/>
        </a:xfrm>
        <a:prstGeom prst="roundRect">
          <a:avLst/>
        </a:prstGeom>
        <a:solidFill>
          <a:schemeClr val="accent5">
            <a:lumMod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200" kern="1200" dirty="0"/>
            <a:t>TEXT CORRECTION</a:t>
          </a:r>
        </a:p>
      </dsp:txBody>
      <dsp:txXfrm>
        <a:off x="68454" y="3015380"/>
        <a:ext cx="3648708" cy="12653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855FE1-F615-4BFE-94CB-CD77F0C312FA}">
      <dsp:nvSpPr>
        <dsp:cNvPr id="0" name=""/>
        <dsp:cNvSpPr/>
      </dsp:nvSpPr>
      <dsp:spPr>
        <a:xfrm>
          <a:off x="0" y="3547"/>
          <a:ext cx="5696171" cy="755643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1FA772-3934-42AB-BB3A-99555F3E15DF}">
      <dsp:nvSpPr>
        <dsp:cNvPr id="0" name=""/>
        <dsp:cNvSpPr/>
      </dsp:nvSpPr>
      <dsp:spPr>
        <a:xfrm>
          <a:off x="228582" y="173567"/>
          <a:ext cx="415603" cy="41560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B91A366-85F6-4D5B-ABAE-421C450E7790}">
      <dsp:nvSpPr>
        <dsp:cNvPr id="0" name=""/>
        <dsp:cNvSpPr/>
      </dsp:nvSpPr>
      <dsp:spPr>
        <a:xfrm>
          <a:off x="872768" y="3547"/>
          <a:ext cx="4823402" cy="7556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972" tIns="79972" rIns="79972" bIns="7997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 dirty="0"/>
            <a:t>Studio dei requisiti, leggi e norme europee sulla privacy</a:t>
          </a:r>
          <a:endParaRPr lang="en-US" sz="1900" kern="1200" dirty="0"/>
        </a:p>
      </dsp:txBody>
      <dsp:txXfrm>
        <a:off x="872768" y="3547"/>
        <a:ext cx="4823402" cy="755643"/>
      </dsp:txXfrm>
    </dsp:sp>
    <dsp:sp modelId="{4640FB5B-7BD2-442C-A395-5DC32E5D5FA2}">
      <dsp:nvSpPr>
        <dsp:cNvPr id="0" name=""/>
        <dsp:cNvSpPr/>
      </dsp:nvSpPr>
      <dsp:spPr>
        <a:xfrm>
          <a:off x="0" y="948102"/>
          <a:ext cx="5696171" cy="755643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60B791-17CD-4652-A3A3-B9D8D7C79647}">
      <dsp:nvSpPr>
        <dsp:cNvPr id="0" name=""/>
        <dsp:cNvSpPr/>
      </dsp:nvSpPr>
      <dsp:spPr>
        <a:xfrm>
          <a:off x="228582" y="1118121"/>
          <a:ext cx="415603" cy="41560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5F7542F-9CDA-42C1-B279-774912193174}">
      <dsp:nvSpPr>
        <dsp:cNvPr id="0" name=""/>
        <dsp:cNvSpPr/>
      </dsp:nvSpPr>
      <dsp:spPr>
        <a:xfrm>
          <a:off x="872768" y="948102"/>
          <a:ext cx="4823402" cy="7556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972" tIns="79972" rIns="79972" bIns="7997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 dirty="0"/>
            <a:t>Creazione materiale/test</a:t>
          </a:r>
          <a:endParaRPr lang="en-US" sz="1900" kern="1200" dirty="0"/>
        </a:p>
      </dsp:txBody>
      <dsp:txXfrm>
        <a:off x="872768" y="948102"/>
        <a:ext cx="4823402" cy="755643"/>
      </dsp:txXfrm>
    </dsp:sp>
    <dsp:sp modelId="{15B11934-9E6E-4339-A0BA-5A27ED46DE9A}">
      <dsp:nvSpPr>
        <dsp:cNvPr id="0" name=""/>
        <dsp:cNvSpPr/>
      </dsp:nvSpPr>
      <dsp:spPr>
        <a:xfrm>
          <a:off x="0" y="1892656"/>
          <a:ext cx="5696171" cy="755643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B7A9D5-2A95-460A-B6C9-F1AF1E315918}">
      <dsp:nvSpPr>
        <dsp:cNvPr id="0" name=""/>
        <dsp:cNvSpPr/>
      </dsp:nvSpPr>
      <dsp:spPr>
        <a:xfrm>
          <a:off x="228582" y="2062676"/>
          <a:ext cx="415603" cy="41560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A138DA6-9C89-42DA-8FE2-9769A76A7938}">
      <dsp:nvSpPr>
        <dsp:cNvPr id="0" name=""/>
        <dsp:cNvSpPr/>
      </dsp:nvSpPr>
      <dsp:spPr>
        <a:xfrm>
          <a:off x="872768" y="1892656"/>
          <a:ext cx="4823402" cy="7556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972" tIns="79972" rIns="79972" bIns="7997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 dirty="0"/>
            <a:t>Ricerca dello strumento da utilizzare, compresa analisi audio e dei costi</a:t>
          </a:r>
          <a:endParaRPr lang="en-US" sz="1900" kern="1200" dirty="0"/>
        </a:p>
      </dsp:txBody>
      <dsp:txXfrm>
        <a:off x="872768" y="1892656"/>
        <a:ext cx="4823402" cy="755643"/>
      </dsp:txXfrm>
    </dsp:sp>
    <dsp:sp modelId="{960C86EC-7BA7-4544-9164-456B53380329}">
      <dsp:nvSpPr>
        <dsp:cNvPr id="0" name=""/>
        <dsp:cNvSpPr/>
      </dsp:nvSpPr>
      <dsp:spPr>
        <a:xfrm>
          <a:off x="0" y="2837211"/>
          <a:ext cx="5696171" cy="755643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B891EC-A501-47F7-BE27-AE2F782C37C5}">
      <dsp:nvSpPr>
        <dsp:cNvPr id="0" name=""/>
        <dsp:cNvSpPr/>
      </dsp:nvSpPr>
      <dsp:spPr>
        <a:xfrm>
          <a:off x="228582" y="3007231"/>
          <a:ext cx="415603" cy="41560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005D80D-A8E8-4543-950D-535D05461848}">
      <dsp:nvSpPr>
        <dsp:cNvPr id="0" name=""/>
        <dsp:cNvSpPr/>
      </dsp:nvSpPr>
      <dsp:spPr>
        <a:xfrm>
          <a:off x="872768" y="2837211"/>
          <a:ext cx="4823402" cy="7556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972" tIns="79972" rIns="79972" bIns="7997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 dirty="0"/>
            <a:t>Test delle varie soluzioni</a:t>
          </a:r>
          <a:endParaRPr lang="en-US" sz="1900" kern="1200" dirty="0"/>
        </a:p>
      </dsp:txBody>
      <dsp:txXfrm>
        <a:off x="872768" y="2837211"/>
        <a:ext cx="4823402" cy="755643"/>
      </dsp:txXfrm>
    </dsp:sp>
    <dsp:sp modelId="{FE874DE4-94A6-420A-BC82-DF064A180F39}">
      <dsp:nvSpPr>
        <dsp:cNvPr id="0" name=""/>
        <dsp:cNvSpPr/>
      </dsp:nvSpPr>
      <dsp:spPr>
        <a:xfrm>
          <a:off x="0" y="3781765"/>
          <a:ext cx="5696171" cy="755643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8DF1D1-708F-4BD3-A882-7F26A2FA3834}">
      <dsp:nvSpPr>
        <dsp:cNvPr id="0" name=""/>
        <dsp:cNvSpPr/>
      </dsp:nvSpPr>
      <dsp:spPr>
        <a:xfrm>
          <a:off x="228582" y="3951785"/>
          <a:ext cx="415603" cy="41560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D19717E-57B9-4FEC-85EC-1D2BA461376E}">
      <dsp:nvSpPr>
        <dsp:cNvPr id="0" name=""/>
        <dsp:cNvSpPr/>
      </dsp:nvSpPr>
      <dsp:spPr>
        <a:xfrm>
          <a:off x="872768" y="3781765"/>
          <a:ext cx="4823402" cy="7556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972" tIns="79972" rIns="79972" bIns="7997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 dirty="0"/>
            <a:t>Scelta del modello da sfruttare</a:t>
          </a:r>
          <a:endParaRPr lang="en-US" sz="1900" kern="1200" dirty="0"/>
        </a:p>
      </dsp:txBody>
      <dsp:txXfrm>
        <a:off x="872768" y="3781765"/>
        <a:ext cx="4823402" cy="7556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it-IT" dirty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0FA3576-2E34-44A5-91FF-3C53AC3DA648}" type="datetime1">
              <a:rPr lang="it-IT" smtClean="0"/>
              <a:t>25/09/2025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D90168E-626C-4E60-93C0-A00D25609468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it-IT" noProof="0" dirty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F21FEC-DF32-4E90-A279-29D5C0BB0773}" type="datetime1">
              <a:rPr lang="it-IT" smtClean="0"/>
              <a:pPr/>
              <a:t>25/09/2025</a:t>
            </a:fld>
            <a:endParaRPr lang="it-IT" dirty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it-IT" noProof="0" dirty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it-IT" noProof="0"/>
              <a:t>Fare clic per modificare lo stile del titolo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it-IT" noProof="0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B3AB32-59DF-41F1-9618-EDFBF5049629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it-IT" noProof="0" smtClean="0"/>
              <a:t>2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30645857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 dirty="0"/>
          </a:p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it-IT" smtClean="0"/>
              <a:t>3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it-IT" noProof="0" smtClean="0"/>
              <a:t>5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31874814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it-IT" noProof="0" smtClean="0"/>
              <a:t>6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3188651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02517D2-20FB-AD10-DF89-01CA2F7A89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47D2697-3DBC-8F0F-791B-9B11ECFAD2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DDF50C8-62D6-2547-43E5-0524C6868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7A23933-3F77-4C59-A775-45E2435C8368}" type="datetime1">
              <a:rPr lang="it-IT" noProof="0" smtClean="0"/>
              <a:t>25/09/2025</a:t>
            </a:fld>
            <a:endParaRPr lang="it-IT" noProof="0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DE48C66-8AC4-4C68-32BF-9DF2EE3B0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it-IT" noProof="0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52165A5-6C7B-BC23-3988-278FCCBA3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it-IT" noProof="0" smtClean="0"/>
              <a:pPr rtl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1949980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0BC2D9B-5F52-565A-E03F-D987E36EB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7C4F83D-936C-B2AB-7E89-845B4AA4A1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4A51BEF-091B-A031-2FBB-5EC00C18D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F3FB14C-AC96-42E5-BE0B-73EFAA1A7EA7}" type="datetime1">
              <a:rPr lang="it-IT" noProof="0" smtClean="0"/>
              <a:t>25/09/2025</a:t>
            </a:fld>
            <a:endParaRPr lang="it-IT" noProof="0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EAFEC71-5EA4-6B46-295F-7EE116EAC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it-IT" noProof="0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CAED57F-2D94-E0FF-B364-4A545FA91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it-IT" noProof="0" smtClean="0"/>
              <a:pPr rtl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3390802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ABB6AFF-9EA7-F333-7196-86C66AA00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BF17C30-1F5F-BDA8-7D7A-85BE5F1C1B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954964E-39EE-E4F7-5A2C-4B4324362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6327E91-20FF-43F1-A337-75953C73E7D7}" type="datetime1">
              <a:rPr lang="it-IT" noProof="0" smtClean="0"/>
              <a:t>25/09/2025</a:t>
            </a:fld>
            <a:endParaRPr lang="it-IT" noProof="0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5D41D8C-7D94-BB7A-C833-E9B3CC243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it-IT" noProof="0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F8C048D-BADE-C9F6-385B-862556F89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it-IT" noProof="0" smtClean="0"/>
              <a:pPr rtl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1729269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2DB0212-74CB-1574-96EC-5B498C93E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1F3EABD-674E-FBE1-8881-235E6F753B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6E4206B-C41C-F4E2-1260-13003338AD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89EDE0B-E428-C938-3720-92B52EE06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EDCB701-B7F2-4988-9CFB-241C1D412354}" type="datetime1">
              <a:rPr lang="it-IT" noProof="0" smtClean="0"/>
              <a:t>25/09/2025</a:t>
            </a:fld>
            <a:endParaRPr lang="it-IT" noProof="0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D9E28E0-1278-E7A8-4B75-F2AC72A41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it-IT" noProof="0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453FCC4-E9A9-D072-6D54-3992D28B8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it-IT" noProof="0" smtClean="0"/>
              <a:pPr rtl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2580492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EA846B4-0C37-305D-9390-2481A4AAE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CD3C68E-96E1-ED81-194A-914E820957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C174073-4696-B7D4-613D-5CD7754613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FCDD3AF7-A944-2E6F-F653-669C9968FC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D22E03F2-1465-3544-EDEA-AE471537DC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9928213C-8638-78E6-9512-41D58C181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4B9B0459-76CC-4B94-A6C6-908B17D42BC8}" type="datetime1">
              <a:rPr lang="it-IT" noProof="0" smtClean="0"/>
              <a:t>25/09/2025</a:t>
            </a:fld>
            <a:endParaRPr lang="it-IT" noProof="0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C7714CC-1BC3-CC5D-4A0D-F9DF1A954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it-IT" noProof="0" dirty="0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8AAE1DB4-0BA3-B62F-5294-BA72AA232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it-IT" noProof="0" smtClean="0"/>
              <a:pPr rtl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581520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A716F50-D88E-1BC2-CCC9-9263F0D34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67F8893-B84B-BDBA-3AA8-96C52F06D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2D572E4-8572-44CF-B6FA-B15ECB2B0691}" type="datetime1">
              <a:rPr lang="it-IT" noProof="0" smtClean="0"/>
              <a:t>25/09/2025</a:t>
            </a:fld>
            <a:endParaRPr lang="it-IT" noProof="0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0A585B4-C15A-21A2-15A6-7966FB9A5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it-IT" noProof="0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E1A045C-4D58-48D4-AB9F-E9747166C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it-IT" noProof="0" smtClean="0"/>
              <a:pPr rtl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2836772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BBECB4B3-BE72-6194-EEB2-83877EAF7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36BACEF-F5E2-445B-BCCF-A68C06C41D7B}" type="datetime1">
              <a:rPr lang="it-IT" noProof="0" smtClean="0"/>
              <a:t>25/09/2025</a:t>
            </a:fld>
            <a:endParaRPr lang="it-IT" noProof="0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D2537112-44FA-AE32-002D-7F420ED28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it-IT" noProof="0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F6A3117-3D7C-9508-5983-4E791DF5F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it-IT" noProof="0" smtClean="0"/>
              <a:pPr rtl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183940608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F140AD2-2473-3B9B-AC1A-7C382981F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AEB077E-2C85-36E4-F872-F792605C3E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DADD619-A036-1CDC-D910-AE267FF14F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141BB75-D859-1E1C-0906-C7B0131CC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4CFC7787-2DFD-4221-B49C-354C37128239}" type="datetime1">
              <a:rPr lang="it-IT" noProof="0" smtClean="0"/>
              <a:t>25/09/2025</a:t>
            </a:fld>
            <a:endParaRPr lang="it-IT" noProof="0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2277FE0-5042-64F2-777D-5B0B8A99E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it-IT" noProof="0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1F399D4-D7CD-6F0B-77DE-81CA02608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it-IT" noProof="0" smtClean="0"/>
              <a:pPr rtl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1097100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41B822B-32F9-E202-4C73-31FA62A39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CAB0D0DD-C1B9-4FD7-8EBA-6619D674E9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D65BDD0-FC59-FEBF-2A71-D8F1678A76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842AEB9-0DE3-743B-4FF7-60FD35B59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D3F07A8F-C5D3-4128-B052-E864993A59CE}" type="datetime1">
              <a:rPr lang="it-IT" noProof="0" smtClean="0"/>
              <a:t>25/09/2025</a:t>
            </a:fld>
            <a:endParaRPr lang="it-IT" noProof="0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820FD0E-6874-2064-AD9A-068718BDB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it-IT" noProof="0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70D36C9-F48A-5D61-21DF-B05BE4DD2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it-IT" noProof="0" smtClean="0"/>
              <a:pPr rtl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3116264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CC32DA6-BCEB-4452-7724-51675C806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2FC8C6B-7292-2D01-F58A-0EC0015C1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74408E4-33C2-A970-8F35-F289160C1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4B4ECE9F-4108-4829-8F23-DFA9C926965D}" type="datetime1">
              <a:rPr lang="it-IT" noProof="0" smtClean="0"/>
              <a:t>25/09/2025</a:t>
            </a:fld>
            <a:endParaRPr lang="it-IT" noProof="0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95FA487-6293-224C-4298-A4AC5C965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it-IT" noProof="0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917C568-21AB-EE64-2A1B-0F436F8B4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it-IT" noProof="0" smtClean="0"/>
              <a:pPr rtl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1800326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42B24ED7-68E8-6BD8-B84C-842BB0FC9C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B95C995-485E-E29F-4ACA-B02182969A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DBB1C0B-2E70-D68E-B3FF-93389A4E7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36BACEF-F5E2-445B-BCCF-A68C06C41D7B}" type="datetime1">
              <a:rPr lang="it-IT" noProof="0" smtClean="0"/>
              <a:t>25/09/2025</a:t>
            </a:fld>
            <a:endParaRPr lang="it-IT" noProof="0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16BCE20-FD03-ADB5-8751-1A49D84A4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it-IT" noProof="0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79D910E-919C-0666-5519-BEFAD8F55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it-IT" noProof="0" smtClean="0"/>
              <a:pPr rtl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518310830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4000"/>
            <a:lum/>
          </a:blip>
          <a:srcRect/>
          <a:stretch>
            <a:fillRect l="-7000" t="-6000" r="-25000" b="-18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0ADDE8D1-BCA5-BD59-E402-D2AC1896E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7416537-389D-7A02-7B99-53B1509B54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FE6A460-D32D-D529-66C2-275FFE0BC9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rtl="0"/>
            <a:fld id="{A36BACEF-F5E2-445B-BCCF-A68C06C41D7B}" type="datetime1">
              <a:rPr lang="it-IT" noProof="0" smtClean="0"/>
              <a:t>25/09/2025</a:t>
            </a:fld>
            <a:endParaRPr lang="it-IT" noProof="0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B83EDD7-FC4E-95DA-94B0-C2CBF7BE68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rtl="0"/>
            <a:endParaRPr lang="it-IT" noProof="0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4651F0B-A2E5-394B-D9ED-CFB563B058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it-IT" noProof="0" smtClean="0"/>
              <a:pPr rtl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2679825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ryptoconexion.com/que-es-internet-computer-protocol-icp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diagramLayout" Target="../diagrams/layout2.xml"/><Relationship Id="rId7" Type="http://schemas.openxmlformats.org/officeDocument/2006/relationships/image" Target="../media/image16.png"/><Relationship Id="rId12" Type="http://schemas.openxmlformats.org/officeDocument/2006/relationships/image" Target="../media/image21.sv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openxmlformats.org/officeDocument/2006/relationships/image" Target="../media/image20.png"/><Relationship Id="rId5" Type="http://schemas.openxmlformats.org/officeDocument/2006/relationships/diagramColors" Target="../diagrams/colors2.xml"/><Relationship Id="rId10" Type="http://schemas.openxmlformats.org/officeDocument/2006/relationships/image" Target="../media/image19.svg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F238CF57-D118-6B92-9E08-12B34EE5C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00" y="141303"/>
            <a:ext cx="1396105" cy="1792379"/>
          </a:xfrm>
          <a:prstGeom prst="rect">
            <a:avLst/>
          </a:prstGeom>
          <a:ln>
            <a:noFill/>
          </a:ln>
        </p:spPr>
      </p:pic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E5C8138E-1522-A6D0-CC96-736FE507FBE0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1589005" y="1037492"/>
            <a:ext cx="10602995" cy="1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CF85AC62-8F94-A91A-0178-5FEDC7EC0DCC}"/>
              </a:ext>
            </a:extLst>
          </p:cNvPr>
          <p:cNvSpPr txBox="1"/>
          <p:nvPr/>
        </p:nvSpPr>
        <p:spPr>
          <a:xfrm>
            <a:off x="2629033" y="314632"/>
            <a:ext cx="79739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FACOLTA’ DI INGEGNERIA</a:t>
            </a:r>
          </a:p>
          <a:p>
            <a:pPr algn="ctr"/>
            <a:r>
              <a:rPr lang="it-IT" dirty="0"/>
              <a:t>DIPARTIMENTO DI INGEGNERIA INDUSTRIALE E DELL’INFORMAZIONE</a:t>
            </a:r>
          </a:p>
          <a:p>
            <a:pPr algn="ctr"/>
            <a:r>
              <a:rPr lang="it-IT" dirty="0"/>
              <a:t> </a:t>
            </a:r>
          </a:p>
          <a:p>
            <a:endParaRPr lang="it-IT" sz="18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C14735DA-F0A3-B32A-6EF4-13D83FC228DD}"/>
              </a:ext>
            </a:extLst>
          </p:cNvPr>
          <p:cNvSpPr txBox="1"/>
          <p:nvPr/>
        </p:nvSpPr>
        <p:spPr>
          <a:xfrm>
            <a:off x="3106995" y="1287351"/>
            <a:ext cx="71677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CORSO  DI  LAUREA IN  INGEGNERIA  ELETTRONICA  E  INFORMATICA</a:t>
            </a:r>
          </a:p>
          <a:p>
            <a:endParaRPr lang="it-IT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04629F67-1912-395D-653B-9A192513F366}"/>
              </a:ext>
            </a:extLst>
          </p:cNvPr>
          <p:cNvSpPr txBox="1"/>
          <p:nvPr/>
        </p:nvSpPr>
        <p:spPr>
          <a:xfrm>
            <a:off x="432617" y="2500899"/>
            <a:ext cx="11573853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6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  PER  L’ANALISI  AUTOMATICA  DI </a:t>
            </a:r>
          </a:p>
          <a:p>
            <a:pPr algn="ctr"/>
            <a:r>
              <a:rPr lang="it-IT" sz="36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SEDUTE  PSICOLOGICHE  NEL  METAVERSO</a:t>
            </a:r>
          </a:p>
          <a:p>
            <a:pPr algn="ctr"/>
            <a:endParaRPr lang="it-IT" sz="1200" dirty="0"/>
          </a:p>
          <a:p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78956E78-87F6-79B1-6752-8AB74EAC1889}"/>
              </a:ext>
            </a:extLst>
          </p:cNvPr>
          <p:cNvSpPr txBox="1"/>
          <p:nvPr/>
        </p:nvSpPr>
        <p:spPr>
          <a:xfrm>
            <a:off x="432617" y="4453111"/>
            <a:ext cx="550606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Relazione di tirocinio discussa in sede di esame finale</a:t>
            </a:r>
          </a:p>
          <a:p>
            <a:r>
              <a:rPr lang="it-IT" sz="1600" dirty="0"/>
              <a:t>dal candidato:  VECCHIO STEFANY MARIA</a:t>
            </a:r>
          </a:p>
          <a:p>
            <a:r>
              <a:rPr lang="it-IT" sz="1600" dirty="0"/>
              <a:t> </a:t>
            </a:r>
          </a:p>
          <a:p>
            <a:r>
              <a:rPr lang="it-IT" sz="1600" dirty="0"/>
              <a:t> </a:t>
            </a:r>
          </a:p>
          <a:p>
            <a:r>
              <a:rPr lang="it-IT" sz="1600" dirty="0"/>
              <a:t>Tutor universitario: Prof. FACCHINETTI TULLIO</a:t>
            </a:r>
          </a:p>
          <a:p>
            <a:r>
              <a:rPr lang="it-IT" sz="1600" dirty="0"/>
              <a:t> </a:t>
            </a:r>
          </a:p>
          <a:p>
            <a:r>
              <a:rPr lang="it-IT" sz="1600" dirty="0"/>
              <a:t>Tutor aziendale: Dott. VIOLETTO ANDREA</a:t>
            </a:r>
          </a:p>
          <a:p>
            <a:r>
              <a:rPr lang="it-IT" dirty="0"/>
              <a:t> </a:t>
            </a:r>
          </a:p>
          <a:p>
            <a:endParaRPr lang="it-IT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8C1B649E-2BDA-DF5A-F6BD-F01AA5E6A38F}"/>
              </a:ext>
            </a:extLst>
          </p:cNvPr>
          <p:cNvSpPr txBox="1"/>
          <p:nvPr/>
        </p:nvSpPr>
        <p:spPr>
          <a:xfrm>
            <a:off x="10274711" y="6500191"/>
            <a:ext cx="173175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A.A. 2024/2025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20592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751C3D6-2DE0-8832-66D8-0B51DC534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Sommario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470EAA2-431F-259F-A816-D3F028F016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Contesto aziendale, visione e vincoli</a:t>
            </a:r>
          </a:p>
          <a:p>
            <a:r>
              <a:rPr lang="it-IT" dirty="0"/>
              <a:t>Workflow per l’automazione</a:t>
            </a:r>
          </a:p>
          <a:p>
            <a:r>
              <a:rPr lang="it-IT" dirty="0"/>
              <a:t>Speech-to-text</a:t>
            </a:r>
          </a:p>
          <a:p>
            <a:r>
              <a:rPr lang="it-IT" dirty="0"/>
              <a:t>Valutazione dell’accuratezza</a:t>
            </a:r>
          </a:p>
          <a:p>
            <a:r>
              <a:rPr lang="it-IT" dirty="0"/>
              <a:t>Correttore</a:t>
            </a:r>
          </a:p>
          <a:p>
            <a:r>
              <a:rPr lang="it-IT" dirty="0"/>
              <a:t>Sviluppi futuri</a:t>
            </a:r>
          </a:p>
          <a:p>
            <a:r>
              <a:rPr lang="it-IT" dirty="0"/>
              <a:t>Conclusioni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349048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31000"/>
            <a:lum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2631" y="3715824"/>
            <a:ext cx="10993546" cy="484822"/>
          </a:xfrm>
        </p:spPr>
        <p:txBody>
          <a:bodyPr rtlCol="0">
            <a:normAutofit/>
          </a:bodyPr>
          <a:lstStyle/>
          <a:p>
            <a:pPr rtl="0"/>
            <a:r>
              <a:rPr lang="it-IT" b="1" dirty="0">
                <a:solidFill>
                  <a:schemeClr val="accent5">
                    <a:lumMod val="75000"/>
                  </a:schemeClr>
                </a:solidFill>
              </a:rPr>
              <a:t>necessariamente INGEGNERIA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2B3FF252-CA0F-4983-D628-98CBF765EF90}"/>
              </a:ext>
            </a:extLst>
          </p:cNvPr>
          <p:cNvSpPr/>
          <p:nvPr/>
        </p:nvSpPr>
        <p:spPr>
          <a:xfrm>
            <a:off x="1122683" y="2848521"/>
            <a:ext cx="994663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METAVERSO, AI &amp; PSICOLOGIA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1005BDBB-89C7-7FC3-EED2-C9E5FAD5FD7D}"/>
              </a:ext>
            </a:extLst>
          </p:cNvPr>
          <p:cNvSpPr/>
          <p:nvPr/>
        </p:nvSpPr>
        <p:spPr>
          <a:xfrm>
            <a:off x="1189444" y="2792494"/>
            <a:ext cx="977992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METAVERSO, AI &amp; PSICOLOGIA</a:t>
            </a: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9000"/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864200-E56F-19B0-63CF-5DEF6BA2F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2383DF9C-8243-A0ED-C44D-B9D42DFA1BE1}"/>
              </a:ext>
            </a:extLst>
          </p:cNvPr>
          <p:cNvSpPr/>
          <p:nvPr/>
        </p:nvSpPr>
        <p:spPr>
          <a:xfrm>
            <a:off x="88490" y="193034"/>
            <a:ext cx="3355235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algn="ctr"/>
            <a:r>
              <a:rPr lang="it-IT" sz="7200" dirty="0">
                <a:ln w="0"/>
                <a:solidFill>
                  <a:schemeClr val="accent5">
                    <a:lumMod val="75000"/>
                  </a:schemeClr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VR-PSY</a:t>
            </a:r>
            <a:endParaRPr lang="it-IT" sz="5400" b="0" cap="none" spc="0" dirty="0">
              <a:ln w="0"/>
              <a:solidFill>
                <a:schemeClr val="accent5">
                  <a:lumMod val="75000"/>
                </a:schemeClr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CC9A345-203B-69FC-0342-37C3502A89D0}"/>
              </a:ext>
            </a:extLst>
          </p:cNvPr>
          <p:cNvSpPr txBox="1"/>
          <p:nvPr/>
        </p:nvSpPr>
        <p:spPr>
          <a:xfrm>
            <a:off x="6233653" y="6125497"/>
            <a:ext cx="56437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/>
              <a:t>Aspetto chiave: la Privacy (GDPR)</a:t>
            </a:r>
            <a:endParaRPr lang="it-IT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1B7B6A41-D589-F2C8-E181-D69CE654E3F1}"/>
              </a:ext>
            </a:extLst>
          </p:cNvPr>
          <p:cNvSpPr/>
          <p:nvPr/>
        </p:nvSpPr>
        <p:spPr>
          <a:xfrm>
            <a:off x="6344436" y="1780036"/>
            <a:ext cx="18473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it-IT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2D865D16-B9F4-1300-E2EB-EDDA4FC1B609}"/>
              </a:ext>
            </a:extLst>
          </p:cNvPr>
          <p:cNvSpPr txBox="1"/>
          <p:nvPr/>
        </p:nvSpPr>
        <p:spPr>
          <a:xfrm>
            <a:off x="88490" y="1175976"/>
            <a:ext cx="41983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applicazione della Realtà Virtuale</a:t>
            </a:r>
          </a:p>
          <a:p>
            <a:r>
              <a:rPr lang="it-IT" dirty="0"/>
              <a:t> in psicologia e psicoterapia, nota</a:t>
            </a:r>
          </a:p>
          <a:p>
            <a:r>
              <a:rPr lang="it-IT" dirty="0"/>
              <a:t>anche come Virtual Reality Therapy 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40CA6745-D2B4-1262-8601-4F7A5AB2C0D1}"/>
              </a:ext>
            </a:extLst>
          </p:cNvPr>
          <p:cNvSpPr txBox="1"/>
          <p:nvPr/>
        </p:nvSpPr>
        <p:spPr>
          <a:xfrm>
            <a:off x="479301" y="2771587"/>
            <a:ext cx="107650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9600" dirty="0">
                <a:latin typeface="OCR A Extended" panose="02010509020102010303" pitchFamily="50" charset="0"/>
                <a:ea typeface="Meiryo" panose="020B0604030504040204" pitchFamily="34" charset="-128"/>
                <a:cs typeface="Cascadia Code ExtraLight" panose="020B0609020000020004" pitchFamily="49" charset="0"/>
              </a:rPr>
              <a:t>M E T A P S I</a:t>
            </a:r>
            <a:endParaRPr lang="it-IT" dirty="0">
              <a:latin typeface="OCR A Extended" panose="02010509020102010303" pitchFamily="50" charset="0"/>
              <a:ea typeface="Meiryo" panose="020B0604030504040204" pitchFamily="34" charset="-128"/>
              <a:cs typeface="Cascadia Code ExtraLight" panose="020B0609020000020004" pitchFamily="49" charset="0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3DD7F6E7-7ECF-A1C3-DFFB-AF10E85CF968}"/>
              </a:ext>
            </a:extLst>
          </p:cNvPr>
          <p:cNvSpPr txBox="1"/>
          <p:nvPr/>
        </p:nvSpPr>
        <p:spPr>
          <a:xfrm>
            <a:off x="2572378" y="4441371"/>
            <a:ext cx="68127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>
                <a:solidFill>
                  <a:schemeClr val="accent5">
                    <a:lumMod val="75000"/>
                  </a:schemeClr>
                </a:solidFill>
              </a:rPr>
              <a:t>Il primo portale di psicologia nel metaverso</a:t>
            </a:r>
          </a:p>
        </p:txBody>
      </p:sp>
    </p:spTree>
    <p:extLst>
      <p:ext uri="{BB962C8B-B14F-4D97-AF65-F5344CB8AC3E}">
        <p14:creationId xmlns:p14="http://schemas.microsoft.com/office/powerpoint/2010/main" val="3800887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3000"/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CDA38CB-0241-5F6E-9CC1-4FFFB1CBF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541" y="588081"/>
            <a:ext cx="10515600" cy="1325563"/>
          </a:xfrm>
        </p:spPr>
        <p:txBody>
          <a:bodyPr/>
          <a:lstStyle/>
          <a:p>
            <a:r>
              <a:rPr lang="it-IT" sz="4800" b="1" dirty="0"/>
              <a:t>Obiettivi</a:t>
            </a:r>
            <a:endParaRPr lang="it-IT" b="1" dirty="0"/>
          </a:p>
        </p:txBody>
      </p:sp>
      <p:sp>
        <p:nvSpPr>
          <p:cNvPr id="4" name="Freccia angolare in su 3">
            <a:extLst>
              <a:ext uri="{FF2B5EF4-FFF2-40B4-BE49-F238E27FC236}">
                <a16:creationId xmlns:a16="http://schemas.microsoft.com/office/drawing/2014/main" id="{5C356F44-37CB-0C3B-18E2-B1986BBD3F64}"/>
              </a:ext>
            </a:extLst>
          </p:cNvPr>
          <p:cNvSpPr/>
          <p:nvPr/>
        </p:nvSpPr>
        <p:spPr>
          <a:xfrm rot="5400000">
            <a:off x="1356853" y="1846047"/>
            <a:ext cx="629264" cy="626806"/>
          </a:xfrm>
          <a:prstGeom prst="bentUp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835FEEA-5EA7-CCBD-B5C4-8689EACC975B}"/>
              </a:ext>
            </a:extLst>
          </p:cNvPr>
          <p:cNvSpPr txBox="1"/>
          <p:nvPr/>
        </p:nvSpPr>
        <p:spPr>
          <a:xfrm>
            <a:off x="1984889" y="2031630"/>
            <a:ext cx="18595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u="sng" dirty="0"/>
              <a:t>aziendali</a:t>
            </a:r>
          </a:p>
        </p:txBody>
      </p:sp>
      <p:sp>
        <p:nvSpPr>
          <p:cNvPr id="6" name="Freccia angolare in su 5">
            <a:extLst>
              <a:ext uri="{FF2B5EF4-FFF2-40B4-BE49-F238E27FC236}">
                <a16:creationId xmlns:a16="http://schemas.microsoft.com/office/drawing/2014/main" id="{015D9E27-BF74-002D-8E01-D97C85154A7F}"/>
              </a:ext>
            </a:extLst>
          </p:cNvPr>
          <p:cNvSpPr/>
          <p:nvPr/>
        </p:nvSpPr>
        <p:spPr>
          <a:xfrm rot="5400000">
            <a:off x="1356854" y="4608767"/>
            <a:ext cx="629264" cy="626806"/>
          </a:xfrm>
          <a:prstGeom prst="bentUp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F50B2FF2-C0D7-295A-BA08-EBBC2DA87E42}"/>
              </a:ext>
            </a:extLst>
          </p:cNvPr>
          <p:cNvSpPr txBox="1"/>
          <p:nvPr/>
        </p:nvSpPr>
        <p:spPr>
          <a:xfrm>
            <a:off x="2069077" y="4782208"/>
            <a:ext cx="18595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u="sng" dirty="0"/>
              <a:t>tirocinio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9485D5D9-9BD3-7D33-4938-3F6860F94A1F}"/>
              </a:ext>
            </a:extLst>
          </p:cNvPr>
          <p:cNvSpPr txBox="1"/>
          <p:nvPr/>
        </p:nvSpPr>
        <p:spPr>
          <a:xfrm>
            <a:off x="2069077" y="2779188"/>
            <a:ext cx="912187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it-IT" sz="2000" dirty="0"/>
              <a:t>Avere in formato testuale le sedute allo scopo di studiare ciascun caso clinico dettagliatamente, offrire un supporto psicologico e psicoterapico più mirato </a:t>
            </a:r>
          </a:p>
          <a:p>
            <a:endParaRPr lang="it-IT" sz="20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it-IT" sz="2000" dirty="0"/>
              <a:t>Sperimentare il livello di conoscenza di un paziente acquisito mediante la sola ed iniziale lettura di una seduta dove lo stesso è coinvolto</a:t>
            </a:r>
          </a:p>
          <a:p>
            <a:endParaRPr lang="it-IT" sz="2000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2A4663BE-4BCF-DAC4-0AEC-5B2F50D7ED46}"/>
              </a:ext>
            </a:extLst>
          </p:cNvPr>
          <p:cNvSpPr txBox="1"/>
          <p:nvPr/>
        </p:nvSpPr>
        <p:spPr>
          <a:xfrm>
            <a:off x="2069077" y="5433484"/>
            <a:ext cx="88938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it-IT" sz="2000" dirty="0"/>
              <a:t>Creare un componente software che restituisca la trascrizione delle sedute</a:t>
            </a:r>
          </a:p>
          <a:p>
            <a:r>
              <a:rPr lang="it-IT" sz="2000" dirty="0"/>
              <a:t>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it-IT" sz="2000" dirty="0"/>
              <a:t>Verificarne effettiva affidabilità </a:t>
            </a:r>
          </a:p>
        </p:txBody>
      </p:sp>
    </p:spTree>
    <p:extLst>
      <p:ext uri="{BB962C8B-B14F-4D97-AF65-F5344CB8AC3E}">
        <p14:creationId xmlns:p14="http://schemas.microsoft.com/office/powerpoint/2010/main" val="2494734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FD36AE9-15A0-3F9A-D7E8-265B302F5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sz="5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Workflow</a:t>
            </a:r>
            <a:endParaRPr lang="it-IT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C5E51094-B607-063D-058D-E073D45A73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833440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1546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3C10D9-09EF-E3CA-9726-0D1873521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832" y="531225"/>
            <a:ext cx="6097230" cy="1130710"/>
          </a:xfrm>
        </p:spPr>
        <p:txBody>
          <a:bodyPr>
            <a:normAutofit/>
          </a:bodyPr>
          <a:lstStyle/>
          <a:p>
            <a:r>
              <a:rPr lang="it-IT" sz="4800" b="1" dirty="0"/>
              <a:t>Steps preliminari</a:t>
            </a:r>
          </a:p>
        </p:txBody>
      </p: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18D15B6C-249B-86C8-28C8-595DC0973895}"/>
              </a:ext>
            </a:extLst>
          </p:cNvPr>
          <p:cNvCxnSpPr>
            <a:cxnSpLocks/>
          </p:cNvCxnSpPr>
          <p:nvPr/>
        </p:nvCxnSpPr>
        <p:spPr>
          <a:xfrm>
            <a:off x="5960418" y="2046656"/>
            <a:ext cx="0" cy="4914214"/>
          </a:xfrm>
          <a:prstGeom prst="line">
            <a:avLst/>
          </a:prstGeom>
          <a:ln>
            <a:gradFill>
              <a:gsLst>
                <a:gs pos="0">
                  <a:schemeClr val="accent5">
                    <a:lumMod val="50000"/>
                  </a:schemeClr>
                </a:gs>
                <a:gs pos="78500">
                  <a:srgbClr val="74C4E9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42000">
                  <a:schemeClr val="accent5">
                    <a:lumMod val="75000"/>
                  </a:schemeClr>
                </a:gs>
                <a:gs pos="100000">
                  <a:schemeClr val="accent5">
                    <a:lumMod val="20000"/>
                    <a:lumOff val="8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CasellaDiTesto 17">
            <a:extLst>
              <a:ext uri="{FF2B5EF4-FFF2-40B4-BE49-F238E27FC236}">
                <a16:creationId xmlns:a16="http://schemas.microsoft.com/office/drawing/2014/main" id="{430174ED-9256-EF7A-0555-77D9D423FB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87927713"/>
              </p:ext>
            </p:extLst>
          </p:nvPr>
        </p:nvGraphicFramePr>
        <p:xfrm>
          <a:off x="146259" y="2046656"/>
          <a:ext cx="5696171" cy="45409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5" name="Segnaposto contenuto 10" descr="Appunti con riempimento a tinta unita">
            <a:extLst>
              <a:ext uri="{FF2B5EF4-FFF2-40B4-BE49-F238E27FC236}">
                <a16:creationId xmlns:a16="http://schemas.microsoft.com/office/drawing/2014/main" id="{C3F6F3B3-F643-D91F-BE40-2B43E0203FF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75935" y="3068002"/>
            <a:ext cx="914400" cy="914400"/>
          </a:xfrm>
          <a:prstGeom prst="rect">
            <a:avLst/>
          </a:prstGeom>
        </p:spPr>
      </p:pic>
      <p:sp>
        <p:nvSpPr>
          <p:cNvPr id="26" name="Freccia a destra 25">
            <a:extLst>
              <a:ext uri="{FF2B5EF4-FFF2-40B4-BE49-F238E27FC236}">
                <a16:creationId xmlns:a16="http://schemas.microsoft.com/office/drawing/2014/main" id="{F5ACC3B5-2518-F49D-266F-85CA505A458D}"/>
              </a:ext>
            </a:extLst>
          </p:cNvPr>
          <p:cNvSpPr/>
          <p:nvPr/>
        </p:nvSpPr>
        <p:spPr>
          <a:xfrm>
            <a:off x="6136553" y="3813661"/>
            <a:ext cx="1700980" cy="914400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7" name="Rettangolo con angoli arrotondati 26">
            <a:extLst>
              <a:ext uri="{FF2B5EF4-FFF2-40B4-BE49-F238E27FC236}">
                <a16:creationId xmlns:a16="http://schemas.microsoft.com/office/drawing/2014/main" id="{F436BA6E-6D4F-260F-6016-E1556BCA5297}"/>
              </a:ext>
            </a:extLst>
          </p:cNvPr>
          <p:cNvSpPr/>
          <p:nvPr/>
        </p:nvSpPr>
        <p:spPr>
          <a:xfrm>
            <a:off x="7955521" y="3712450"/>
            <a:ext cx="2094271" cy="120936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8" name="Freccia a destra 27">
            <a:extLst>
              <a:ext uri="{FF2B5EF4-FFF2-40B4-BE49-F238E27FC236}">
                <a16:creationId xmlns:a16="http://schemas.microsoft.com/office/drawing/2014/main" id="{8A301BD5-6FB2-4446-12E1-14AEB0CD1C6C}"/>
              </a:ext>
            </a:extLst>
          </p:cNvPr>
          <p:cNvSpPr/>
          <p:nvPr/>
        </p:nvSpPr>
        <p:spPr>
          <a:xfrm>
            <a:off x="10167780" y="3722627"/>
            <a:ext cx="1877961" cy="1130710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29" name="Elemento grafico 28" descr="Punto interrogativo con riempimento a tinta unita">
            <a:extLst>
              <a:ext uri="{FF2B5EF4-FFF2-40B4-BE49-F238E27FC236}">
                <a16:creationId xmlns:a16="http://schemas.microsoft.com/office/drawing/2014/main" id="{1B4B44D7-D309-C0AE-9519-5C75A7E1BD0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545456" y="3810773"/>
            <a:ext cx="914400" cy="914400"/>
          </a:xfrm>
          <a:prstGeom prst="rect">
            <a:avLst/>
          </a:prstGeom>
        </p:spPr>
      </p:pic>
      <p:pic>
        <p:nvPicPr>
          <p:cNvPr id="30" name="Elemento grafico 29" descr="Vlog con riempimento a tinta unita">
            <a:extLst>
              <a:ext uri="{FF2B5EF4-FFF2-40B4-BE49-F238E27FC236}">
                <a16:creationId xmlns:a16="http://schemas.microsoft.com/office/drawing/2014/main" id="{08F85817-9B16-A1FF-0967-E35FDAF272E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13986" y="3171705"/>
            <a:ext cx="914400" cy="914400"/>
          </a:xfrm>
          <a:prstGeom prst="rect">
            <a:avLst/>
          </a:prstGeom>
        </p:spPr>
      </p:pic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389E185A-DED5-B1C5-EE74-8AF61B762F68}"/>
              </a:ext>
            </a:extLst>
          </p:cNvPr>
          <p:cNvSpPr txBox="1"/>
          <p:nvPr/>
        </p:nvSpPr>
        <p:spPr>
          <a:xfrm>
            <a:off x="6158678" y="4086195"/>
            <a:ext cx="1420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Seduta.mp4</a:t>
            </a:r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BB49B990-4FC9-84A2-CCD3-4E99459FD59A}"/>
              </a:ext>
            </a:extLst>
          </p:cNvPr>
          <p:cNvSpPr txBox="1"/>
          <p:nvPr/>
        </p:nvSpPr>
        <p:spPr>
          <a:xfrm>
            <a:off x="10275935" y="4103316"/>
            <a:ext cx="1189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Testo.txt</a:t>
            </a:r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77A063E8-8C6B-C544-AD0F-DBEB378A68B1}"/>
              </a:ext>
            </a:extLst>
          </p:cNvPr>
          <p:cNvSpPr txBox="1"/>
          <p:nvPr/>
        </p:nvSpPr>
        <p:spPr>
          <a:xfrm>
            <a:off x="6968385" y="677846"/>
            <a:ext cx="37647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800" b="1" dirty="0"/>
              <a:t>Speech2Text</a:t>
            </a:r>
            <a:endParaRPr lang="it-IT" sz="2000" b="1" dirty="0"/>
          </a:p>
        </p:txBody>
      </p:sp>
    </p:spTree>
    <p:extLst>
      <p:ext uri="{BB962C8B-B14F-4D97-AF65-F5344CB8AC3E}">
        <p14:creationId xmlns:p14="http://schemas.microsoft.com/office/powerpoint/2010/main" val="41478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08B913E-8062-5BD9-15CE-A3A5F8B9C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491" y="689429"/>
            <a:ext cx="5778296" cy="1325563"/>
          </a:xfrm>
        </p:spPr>
        <p:txBody>
          <a:bodyPr>
            <a:normAutofit/>
          </a:bodyPr>
          <a:lstStyle/>
          <a:p>
            <a:r>
              <a:rPr lang="it-IT" sz="4000" b="1" dirty="0"/>
              <a:t>Modelli valutati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1EC312E-3BCF-4843-FF0C-004813B748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3839" y="2130425"/>
            <a:ext cx="3060560" cy="3625249"/>
          </a:xfrm>
        </p:spPr>
        <p:txBody>
          <a:bodyPr/>
          <a:lstStyle/>
          <a:p>
            <a:r>
              <a:rPr lang="it-IT" dirty="0"/>
              <a:t>GLADIA</a:t>
            </a:r>
          </a:p>
          <a:p>
            <a:r>
              <a:rPr lang="it-IT" dirty="0"/>
              <a:t>VOSK</a:t>
            </a:r>
          </a:p>
          <a:p>
            <a:r>
              <a:rPr lang="it-IT" dirty="0"/>
              <a:t>DEEPSPEECH</a:t>
            </a:r>
          </a:p>
          <a:p>
            <a:r>
              <a:rPr lang="it-IT" dirty="0"/>
              <a:t>RESEMBLYZER</a:t>
            </a:r>
          </a:p>
          <a:p>
            <a:r>
              <a:rPr lang="it-IT" dirty="0"/>
              <a:t>SPEECHBRAIN</a:t>
            </a:r>
          </a:p>
          <a:p>
            <a:pPr marL="0" indent="0">
              <a:buNone/>
            </a:pPr>
            <a:r>
              <a:rPr lang="it-IT" dirty="0"/>
              <a:t>….</a:t>
            </a:r>
          </a:p>
        </p:txBody>
      </p:sp>
      <p:sp>
        <p:nvSpPr>
          <p:cNvPr id="4" name="Freccia a destra 3">
            <a:extLst>
              <a:ext uri="{FF2B5EF4-FFF2-40B4-BE49-F238E27FC236}">
                <a16:creationId xmlns:a16="http://schemas.microsoft.com/office/drawing/2014/main" id="{7AE75B7E-0E9E-0E34-C66B-CBA92B35391C}"/>
              </a:ext>
            </a:extLst>
          </p:cNvPr>
          <p:cNvSpPr/>
          <p:nvPr/>
        </p:nvSpPr>
        <p:spPr>
          <a:xfrm>
            <a:off x="4466225" y="2976841"/>
            <a:ext cx="2351315" cy="1416817"/>
          </a:xfrm>
          <a:prstGeom prst="rightArrow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40BFD1A5-1CC2-E672-658D-A0E78850E24B}"/>
              </a:ext>
            </a:extLst>
          </p:cNvPr>
          <p:cNvSpPr txBox="1"/>
          <p:nvPr/>
        </p:nvSpPr>
        <p:spPr>
          <a:xfrm>
            <a:off x="4950923" y="3454416"/>
            <a:ext cx="15338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/>
              <a:t>alla</a:t>
            </a:r>
            <a:r>
              <a:rPr lang="it-IT" sz="2000" dirty="0"/>
              <a:t> </a:t>
            </a:r>
            <a:r>
              <a:rPr lang="it-IT" sz="2400" dirty="0"/>
              <a:t>fine</a:t>
            </a:r>
            <a:endParaRPr lang="it-IT" sz="2000" dirty="0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0D0B6DAF-E94D-5920-E0D9-35C044C6BF0E}"/>
              </a:ext>
            </a:extLst>
          </p:cNvPr>
          <p:cNvSpPr/>
          <p:nvPr/>
        </p:nvSpPr>
        <p:spPr>
          <a:xfrm>
            <a:off x="6863134" y="2976843"/>
            <a:ext cx="4964308" cy="230832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FASTER-WHISPER</a:t>
            </a:r>
          </a:p>
          <a:p>
            <a:pPr algn="ctr"/>
            <a:r>
              <a:rPr lang="it-IT" sz="4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1.2.0</a:t>
            </a:r>
          </a:p>
          <a:p>
            <a:pPr algn="ctr"/>
            <a:endParaRPr lang="it-IT" sz="4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BD562480-6EE2-99CF-E645-DB4EA5D814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0420" y="3685250"/>
            <a:ext cx="1106217" cy="1117843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21CBA77C-3C0C-78D3-388A-C038EE93E5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r="72214" b="-10128"/>
          <a:stretch>
            <a:fillRect/>
          </a:stretch>
        </p:blipFill>
        <p:spPr>
          <a:xfrm>
            <a:off x="2680197" y="2083150"/>
            <a:ext cx="593946" cy="502734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BC3697F3-A378-A9F4-1B86-A03BDD5C68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3639" y="3084890"/>
            <a:ext cx="510760" cy="527351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66834C0F-C6A1-F77B-88A6-B3806E33C4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7986" y="4101544"/>
            <a:ext cx="584232" cy="584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104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5C0568F-9560-DD77-28BC-C5A33292AD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02462" y="263646"/>
            <a:ext cx="1268091" cy="411956"/>
          </a:xfrm>
        </p:spPr>
        <p:txBody>
          <a:bodyPr>
            <a:normAutofit fontScale="92500" lnSpcReduction="20000"/>
          </a:bodyPr>
          <a:lstStyle/>
          <a:p>
            <a:r>
              <a:rPr lang="it-IT" sz="2800" dirty="0"/>
              <a:t>GUI </a:t>
            </a:r>
          </a:p>
        </p:txBody>
      </p:sp>
      <p:pic>
        <p:nvPicPr>
          <p:cNvPr id="12" name="Segnaposto contenuto 6">
            <a:extLst>
              <a:ext uri="{FF2B5EF4-FFF2-40B4-BE49-F238E27FC236}">
                <a16:creationId xmlns:a16="http://schemas.microsoft.com/office/drawing/2014/main" id="{54B78FC1-3F45-825D-4F7C-7D0439D0646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05627" y="687897"/>
            <a:ext cx="5261763" cy="5888334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E0D40B50-09EF-D431-4F9F-55A708CE2B5A}"/>
              </a:ext>
            </a:extLst>
          </p:cNvPr>
          <p:cNvSpPr txBox="1"/>
          <p:nvPr/>
        </p:nvSpPr>
        <p:spPr>
          <a:xfrm>
            <a:off x="5761490" y="668825"/>
            <a:ext cx="6005613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[00:07:16 - 00:07:33] SPEAKER 00: Eh, sì, abbastanza. Anche semplicemente per tenere casa in ordine o fare le commissioni  varie, sono più legate alla famiglia a quel punto lì. Cioè, il tema è così, finisco  il lavoro, finisce la famiglia, cioè, poi sono 24 ore, ecco quelle sono come situazione.</a:t>
            </a:r>
          </a:p>
          <a:p>
            <a:r>
              <a:rPr lang="it-IT" dirty="0"/>
              <a:t>[00:07:33 - 00:07:46] SPEAKER 01: E ascolta, prima invece di costruire la tua famiglia, prima era una persona che tendeva  molto alla compagnia, al... alla socialità, quindi andavi spesso al pub, questa è la domanda.</a:t>
            </a:r>
          </a:p>
          <a:p>
            <a:r>
              <a:rPr lang="it-IT" dirty="0"/>
              <a:t>[00:07:48 - 00:08:05] SPEAKER 00: andavo spesso al sabato sera al pub con amici come situazione ci trovavamo metà del sabato  pomeriggio a radunarci tutti e poi ci andavamo Dalle 9 in poi. Si tornava forse a mezzanotte. </a:t>
            </a:r>
          </a:p>
          <a:p>
            <a:r>
              <a:rPr lang="it-IT" dirty="0"/>
              <a:t>[00:08:04 - 00:08:05] SPEAKER 01: Ok?</a:t>
            </a:r>
          </a:p>
          <a:p>
            <a:r>
              <a:rPr lang="it-IT" dirty="0"/>
              <a:t>[00:08:06 - 00:08:20] SPEAKER 00: Anche se c'era un richiamo di casa in stile, come si dice, cenerentola, no, la mezzanotte, devi tornare, cos'è il genitore?  Il genitore è preoccupato di un ragazzo adulto, no?</a:t>
            </a:r>
          </a:p>
          <a:p>
            <a:r>
              <a:rPr lang="it-IT" dirty="0"/>
              <a:t>[00:08:17 - 00:08:26] SPEAKER 01: e... Certo, ma quindi sono i bambini o la moglie che ha limitato questa modalità?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2385FCAB-8A16-9361-CCA8-855543B8D0A8}"/>
              </a:ext>
            </a:extLst>
          </p:cNvPr>
          <p:cNvSpPr txBox="1"/>
          <p:nvPr/>
        </p:nvSpPr>
        <p:spPr>
          <a:xfrm>
            <a:off x="6915667" y="208014"/>
            <a:ext cx="3252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/>
              <a:t>ESEMPIO OUTPUT</a:t>
            </a:r>
          </a:p>
        </p:txBody>
      </p:sp>
    </p:spTree>
    <p:extLst>
      <p:ext uri="{BB962C8B-B14F-4D97-AF65-F5344CB8AC3E}">
        <p14:creationId xmlns:p14="http://schemas.microsoft.com/office/powerpoint/2010/main" val="5610907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DD9B2425-45B5-A386-1A68-52D660776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0975" y="119062"/>
            <a:ext cx="4391025" cy="6619875"/>
          </a:xfrm>
          <a:prstGeom prst="rect">
            <a:avLst/>
          </a:prstGeom>
        </p:spPr>
      </p:pic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ECF0AC39-512E-6BE2-515F-CF6597D2C6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168" y="1289658"/>
            <a:ext cx="7477807" cy="14038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3200" b="1" dirty="0"/>
              <a:t>PRINCIPALI FUNZIONI E </a:t>
            </a:r>
          </a:p>
          <a:p>
            <a:pPr marL="0" indent="0">
              <a:buNone/>
            </a:pPr>
            <a:r>
              <a:rPr lang="it-IT" sz="3200" b="1" dirty="0"/>
              <a:t>RISPETTIVE LIBRERIE/MODELLI</a:t>
            </a:r>
          </a:p>
        </p:txBody>
      </p:sp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50ACE5CF-A7B3-294A-546C-347EED8E2E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5863168"/>
              </p:ext>
            </p:extLst>
          </p:nvPr>
        </p:nvGraphicFramePr>
        <p:xfrm>
          <a:off x="323168" y="2949701"/>
          <a:ext cx="7230572" cy="1752600"/>
        </p:xfrm>
        <a:graphic>
          <a:graphicData uri="http://schemas.openxmlformats.org/drawingml/2006/table">
            <a:tbl>
              <a:tblPr bandRow="1">
                <a:tableStyleId>{7DF18680-E054-41AD-8BC1-D1AEF772440D}</a:tableStyleId>
              </a:tblPr>
              <a:tblGrid>
                <a:gridCol w="2621444">
                  <a:extLst>
                    <a:ext uri="{9D8B030D-6E8A-4147-A177-3AD203B41FA5}">
                      <a16:colId xmlns:a16="http://schemas.microsoft.com/office/drawing/2014/main" val="285387548"/>
                    </a:ext>
                  </a:extLst>
                </a:gridCol>
                <a:gridCol w="4609128">
                  <a:extLst>
                    <a:ext uri="{9D8B030D-6E8A-4147-A177-3AD203B41FA5}">
                      <a16:colId xmlns:a16="http://schemas.microsoft.com/office/drawing/2014/main" val="29049386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sz="1800" dirty="0"/>
                        <a:t>Estrazione audio dal video 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dirty="0"/>
                        <a:t>ffmpeg per audio.wav mono, 16 kHz.</a:t>
                      </a:r>
                    </a:p>
                    <a:p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0311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800" dirty="0"/>
                        <a:t>Diarizzazione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dirty="0"/>
                        <a:t>pyannote  per riconoscere i diversi speaker.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718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800" dirty="0"/>
                        <a:t>Trascrizione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dirty="0"/>
                        <a:t>faster-whisper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47904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800" dirty="0"/>
                        <a:t>Post-processing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dirty="0"/>
                        <a:t>filtro blacklist per eliminare bug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11502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354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7D5A160-2D24-5466-D00D-074F7E83F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893" y="870771"/>
            <a:ext cx="8933841" cy="806756"/>
          </a:xfrm>
        </p:spPr>
        <p:txBody>
          <a:bodyPr>
            <a:noAutofit/>
          </a:bodyPr>
          <a:lstStyle/>
          <a:p>
            <a:r>
              <a:rPr lang="it-IT" altLang="it-IT" sz="2400" dirty="0">
                <a:latin typeface="Arial" panose="020B0604020202020204" pitchFamily="34" charset="0"/>
              </a:rPr>
              <a:t>La traduzione automatica è simile a quella di riferimento?</a:t>
            </a:r>
            <a:endParaRPr lang="it-IT" sz="2400" dirty="0"/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CB8500D1-7425-790E-57DE-BF85578DCF85}"/>
              </a:ext>
            </a:extLst>
          </p:cNvPr>
          <p:cNvSpPr/>
          <p:nvPr/>
        </p:nvSpPr>
        <p:spPr>
          <a:xfrm>
            <a:off x="4355781" y="2350733"/>
            <a:ext cx="2871020" cy="2214054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87709CF6-E9AC-B863-96B2-AE935E0C3131}"/>
              </a:ext>
            </a:extLst>
          </p:cNvPr>
          <p:cNvSpPr/>
          <p:nvPr/>
        </p:nvSpPr>
        <p:spPr>
          <a:xfrm>
            <a:off x="3974961" y="3237950"/>
            <a:ext cx="3632659" cy="5232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28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Similarity score</a:t>
            </a:r>
            <a:endParaRPr lang="it-IT" sz="28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6" name="Freccia in giù 5">
            <a:extLst>
              <a:ext uri="{FF2B5EF4-FFF2-40B4-BE49-F238E27FC236}">
                <a16:creationId xmlns:a16="http://schemas.microsoft.com/office/drawing/2014/main" id="{4F0736EF-29E7-95EF-9DA0-03B2BBE29367}"/>
              </a:ext>
            </a:extLst>
          </p:cNvPr>
          <p:cNvSpPr/>
          <p:nvPr/>
        </p:nvSpPr>
        <p:spPr>
          <a:xfrm rot="16200000">
            <a:off x="2258478" y="1176260"/>
            <a:ext cx="1269418" cy="2925187"/>
          </a:xfrm>
          <a:prstGeom prst="downArrow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7" name="Freccia in giù 6">
            <a:extLst>
              <a:ext uri="{FF2B5EF4-FFF2-40B4-BE49-F238E27FC236}">
                <a16:creationId xmlns:a16="http://schemas.microsoft.com/office/drawing/2014/main" id="{535E1585-2049-D4FC-A8A6-3B4B2290CA28}"/>
              </a:ext>
            </a:extLst>
          </p:cNvPr>
          <p:cNvSpPr/>
          <p:nvPr/>
        </p:nvSpPr>
        <p:spPr>
          <a:xfrm rot="16200000">
            <a:off x="2258479" y="2549617"/>
            <a:ext cx="1269418" cy="2925188"/>
          </a:xfrm>
          <a:prstGeom prst="downArrow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120D045E-B1EE-1AD6-D26B-F294A6ED76F4}"/>
              </a:ext>
            </a:extLst>
          </p:cNvPr>
          <p:cNvSpPr/>
          <p:nvPr/>
        </p:nvSpPr>
        <p:spPr>
          <a:xfrm>
            <a:off x="1354394" y="2451770"/>
            <a:ext cx="2947308" cy="33855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160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ground_truth_transcription.txt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7750A607-72EA-3826-1635-451B2E45DC40}"/>
              </a:ext>
            </a:extLst>
          </p:cNvPr>
          <p:cNvSpPr txBox="1"/>
          <p:nvPr/>
        </p:nvSpPr>
        <p:spPr>
          <a:xfrm>
            <a:off x="1484671" y="3844531"/>
            <a:ext cx="2817031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it-IT" sz="1600" dirty="0"/>
              <a:t>automatic_transcription.txt</a:t>
            </a:r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D27B0143-18B1-A693-1E61-8F5EB9CDF4EF}"/>
              </a:ext>
            </a:extLst>
          </p:cNvPr>
          <p:cNvSpPr/>
          <p:nvPr/>
        </p:nvSpPr>
        <p:spPr>
          <a:xfrm>
            <a:off x="8323007" y="3131776"/>
            <a:ext cx="1956619" cy="808703"/>
          </a:xfrm>
          <a:prstGeom prst="roundRect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AD6CD220-523F-5858-50F2-A8A600B827C2}"/>
              </a:ext>
            </a:extLst>
          </p:cNvPr>
          <p:cNvSpPr/>
          <p:nvPr/>
        </p:nvSpPr>
        <p:spPr>
          <a:xfrm>
            <a:off x="8323007" y="3261869"/>
            <a:ext cx="1896185" cy="5232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280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0-100%</a:t>
            </a:r>
            <a:endParaRPr lang="it-IT" sz="2800" b="0" cap="none" spc="0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5" name="Freccia a destra 14">
            <a:extLst>
              <a:ext uri="{FF2B5EF4-FFF2-40B4-BE49-F238E27FC236}">
                <a16:creationId xmlns:a16="http://schemas.microsoft.com/office/drawing/2014/main" id="{808BB08C-F5A6-B25D-F00F-E65948F8A4B0}"/>
              </a:ext>
            </a:extLst>
          </p:cNvPr>
          <p:cNvSpPr/>
          <p:nvPr/>
        </p:nvSpPr>
        <p:spPr>
          <a:xfrm>
            <a:off x="7226801" y="3315300"/>
            <a:ext cx="1096206" cy="445870"/>
          </a:xfrm>
          <a:prstGeom prst="rightArrow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6048399E-C3F0-5307-203B-A8C51FD5E9AD}"/>
              </a:ext>
            </a:extLst>
          </p:cNvPr>
          <p:cNvSpPr txBox="1"/>
          <p:nvPr/>
        </p:nvSpPr>
        <p:spPr>
          <a:xfrm>
            <a:off x="4970249" y="5368401"/>
            <a:ext cx="1563423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PROGRAMMA PYTHON </a:t>
            </a: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0179FAB3-1FBC-3821-720E-8EE3F9D2EB45}"/>
              </a:ext>
            </a:extLst>
          </p:cNvPr>
          <p:cNvSpPr txBox="1"/>
          <p:nvPr/>
        </p:nvSpPr>
        <p:spPr>
          <a:xfrm>
            <a:off x="1354394" y="5506900"/>
            <a:ext cx="231506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INPUT</a:t>
            </a: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C4522613-4F5D-168B-E86B-FF9F9F5055E3}"/>
              </a:ext>
            </a:extLst>
          </p:cNvPr>
          <p:cNvSpPr txBox="1"/>
          <p:nvPr/>
        </p:nvSpPr>
        <p:spPr>
          <a:xfrm>
            <a:off x="8568813" y="5506900"/>
            <a:ext cx="138634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RISULTATO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3FC543C1-3887-8C9F-BDB6-732282A058F4}"/>
              </a:ext>
            </a:extLst>
          </p:cNvPr>
          <p:cNvSpPr txBox="1"/>
          <p:nvPr/>
        </p:nvSpPr>
        <p:spPr>
          <a:xfrm>
            <a:off x="1090893" y="197565"/>
            <a:ext cx="75954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800" b="1" dirty="0">
                <a:latin typeface="+mj-lt"/>
              </a:rPr>
              <a:t>Valutazione dell’accuratezza</a:t>
            </a:r>
          </a:p>
        </p:txBody>
      </p:sp>
    </p:spTree>
    <p:extLst>
      <p:ext uri="{BB962C8B-B14F-4D97-AF65-F5344CB8AC3E}">
        <p14:creationId xmlns:p14="http://schemas.microsoft.com/office/powerpoint/2010/main" val="21322293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8A6F77C-8EB5-E449-C8FC-B7291848F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2319" y="5182655"/>
            <a:ext cx="6221525" cy="1325563"/>
          </a:xfrm>
        </p:spPr>
        <p:txBody>
          <a:bodyPr>
            <a:normAutofit/>
          </a:bodyPr>
          <a:lstStyle/>
          <a:p>
            <a:r>
              <a:rPr lang="it-IT" sz="2000" b="1" dirty="0"/>
              <a:t>Utilizzo da linea di comando:</a:t>
            </a:r>
            <a:br>
              <a:rPr lang="it-IT" sz="1800" dirty="0"/>
            </a:br>
            <a:r>
              <a:rPr lang="it-IT" sz="1800" dirty="0"/>
              <a:t>&gt;&gt; python   confronto.py    file_riferimento.txt    file_automatico.txt </a:t>
            </a:r>
            <a:endParaRPr lang="it-IT" sz="3200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8C40DB20-1E8D-B3C6-D6D9-3B0C5FE6171F}"/>
              </a:ext>
            </a:extLst>
          </p:cNvPr>
          <p:cNvSpPr txBox="1"/>
          <p:nvPr/>
        </p:nvSpPr>
        <p:spPr>
          <a:xfrm>
            <a:off x="108155" y="1341120"/>
            <a:ext cx="546673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/>
              <a:t>Input e formati file:</a:t>
            </a:r>
            <a:endParaRPr lang="it-IT" sz="20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it-IT" dirty="0"/>
              <a:t> File riferimento:</a:t>
            </a:r>
          </a:p>
          <a:p>
            <a:r>
              <a:rPr lang="it-IT" dirty="0"/>
              <a:t>  mm:ss PSICOLOGO/PAZIENTE: testo </a:t>
            </a:r>
          </a:p>
          <a:p>
            <a:endParaRPr lang="it-IT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it-IT" dirty="0"/>
              <a:t>File automatico: </a:t>
            </a:r>
          </a:p>
          <a:p>
            <a:r>
              <a:rPr lang="it-IT" dirty="0"/>
              <a:t>[hh:mm:ss - hh:mm:ss] SPEAKER: testo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1E7CCA04-9D3D-B4AF-D1E5-38D93C10E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2016" y="1341120"/>
            <a:ext cx="5134172" cy="3726735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87629E44-F26C-5CBB-9A60-008FAAA15422}"/>
              </a:ext>
            </a:extLst>
          </p:cNvPr>
          <p:cNvSpPr txBox="1"/>
          <p:nvPr/>
        </p:nvSpPr>
        <p:spPr>
          <a:xfrm>
            <a:off x="108156" y="3530600"/>
            <a:ext cx="546673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3 tipi di confronti </a:t>
            </a:r>
            <a:r>
              <a:rPr lang="it-IT" dirty="0"/>
              <a:t>: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it-IT" b="1" u="sng" dirty="0"/>
              <a:t>Base</a:t>
            </a:r>
            <a:r>
              <a:rPr lang="it-IT" dirty="0"/>
              <a:t> → confronta ogni riga della trascrizione di riferimento con la riga corrispondente della trascrizione automatica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it-IT" b="1" u="sng" dirty="0"/>
              <a:t>Join automatico </a:t>
            </a:r>
            <a:r>
              <a:rPr lang="it-IT" dirty="0"/>
              <a:t>→ confronta una singola riga di riferimento con più righe concatenate della trascrizione automatica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it-IT" b="1" u="sng" dirty="0"/>
              <a:t>Join riferimento </a:t>
            </a:r>
            <a:r>
              <a:rPr lang="it-IT" dirty="0"/>
              <a:t>→ confronta più righe concatenate del riferimento con una singola riga della trascrizione automatica.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366F8118-3927-F48E-5827-D1E7C8B2CE65}"/>
              </a:ext>
            </a:extLst>
          </p:cNvPr>
          <p:cNvSpPr txBox="1"/>
          <p:nvPr/>
        </p:nvSpPr>
        <p:spPr>
          <a:xfrm>
            <a:off x="1653209" y="349782"/>
            <a:ext cx="88855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400" b="1" dirty="0"/>
              <a:t>Valutazione dell’accuratezza</a:t>
            </a:r>
          </a:p>
        </p:txBody>
      </p:sp>
    </p:spTree>
    <p:extLst>
      <p:ext uri="{BB962C8B-B14F-4D97-AF65-F5344CB8AC3E}">
        <p14:creationId xmlns:p14="http://schemas.microsoft.com/office/powerpoint/2010/main" val="39745730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0C9E6A2-F134-9DBD-8C5E-4D3696406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637" y="285612"/>
            <a:ext cx="10515600" cy="1325563"/>
          </a:xfrm>
        </p:spPr>
        <p:txBody>
          <a:bodyPr/>
          <a:lstStyle/>
          <a:p>
            <a:r>
              <a:rPr lang="it-IT" sz="4800" b="1" dirty="0"/>
              <a:t>Metriche utilizzate</a:t>
            </a:r>
            <a:r>
              <a:rPr lang="it-IT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Segnaposto contenuto 3">
                <a:extLst>
                  <a:ext uri="{FF2B5EF4-FFF2-40B4-BE49-F238E27FC236}">
                    <a16:creationId xmlns:a16="http://schemas.microsoft.com/office/drawing/2014/main" id="{279CD092-E52C-401B-9378-B2E05246980E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922321633"/>
                  </p:ext>
                </p:extLst>
              </p:nvPr>
            </p:nvGraphicFramePr>
            <p:xfrm>
              <a:off x="440637" y="1510747"/>
              <a:ext cx="10913163" cy="4747125"/>
            </p:xfrm>
            <a:graphic>
              <a:graphicData uri="http://schemas.openxmlformats.org/drawingml/2006/table">
                <a:tbl>
                  <a:tblPr>
                    <a:solidFill>
                      <a:schemeClr val="bg1"/>
                    </a:solidFill>
                  </a:tblPr>
                  <a:tblGrid>
                    <a:gridCol w="1845363">
                      <a:extLst>
                        <a:ext uri="{9D8B030D-6E8A-4147-A177-3AD203B41FA5}">
                          <a16:colId xmlns:a16="http://schemas.microsoft.com/office/drawing/2014/main" val="971379766"/>
                        </a:ext>
                      </a:extLst>
                    </a:gridCol>
                    <a:gridCol w="2266122">
                      <a:extLst>
                        <a:ext uri="{9D8B030D-6E8A-4147-A177-3AD203B41FA5}">
                          <a16:colId xmlns:a16="http://schemas.microsoft.com/office/drawing/2014/main" val="1458688343"/>
                        </a:ext>
                      </a:extLst>
                    </a:gridCol>
                    <a:gridCol w="2401323">
                      <a:extLst>
                        <a:ext uri="{9D8B030D-6E8A-4147-A177-3AD203B41FA5}">
                          <a16:colId xmlns:a16="http://schemas.microsoft.com/office/drawing/2014/main" val="43807633"/>
                        </a:ext>
                      </a:extLst>
                    </a:gridCol>
                    <a:gridCol w="2233060">
                      <a:extLst>
                        <a:ext uri="{9D8B030D-6E8A-4147-A177-3AD203B41FA5}">
                          <a16:colId xmlns:a16="http://schemas.microsoft.com/office/drawing/2014/main" val="2102073989"/>
                        </a:ext>
                      </a:extLst>
                    </a:gridCol>
                    <a:gridCol w="2167295">
                      <a:extLst>
                        <a:ext uri="{9D8B030D-6E8A-4147-A177-3AD203B41FA5}">
                          <a16:colId xmlns:a16="http://schemas.microsoft.com/office/drawing/2014/main" val="4110179893"/>
                        </a:ext>
                      </a:extLst>
                    </a:gridCol>
                  </a:tblGrid>
                  <a:tr h="84482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it-IT" sz="1600" b="1" cap="none" spc="0" dirty="0">
                              <a:solidFill>
                                <a:schemeClr val="tx1"/>
                              </a:solidFill>
                            </a:rPr>
                            <a:t>Metrica</a:t>
                          </a:r>
                          <a:endParaRPr lang="it-IT" sz="1600" cap="none" spc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5849" marR="69034" marT="81423" marB="81423" anchor="ctr">
                        <a:lnL w="19050" cap="flat" cmpd="sng" algn="ctr">
                          <a:noFill/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it-IT" sz="1600" b="1" cap="none" spc="0" dirty="0">
                              <a:solidFill>
                                <a:schemeClr val="tx1"/>
                              </a:solidFill>
                            </a:rPr>
                            <a:t>Logica</a:t>
                          </a:r>
                          <a:endParaRPr lang="it-IT" sz="1600" cap="none" spc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5849" marR="69034" marT="81423" marB="814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it-IT" sz="1600" b="1" cap="none" spc="0" dirty="0">
                              <a:solidFill>
                                <a:schemeClr val="tx1"/>
                              </a:solidFill>
                            </a:rPr>
                            <a:t>Formula / Algoritmo</a:t>
                          </a:r>
                          <a:endParaRPr lang="it-IT" sz="1600" cap="none" spc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5849" marR="69034" marT="81423" marB="814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it-IT" sz="1600" b="1" cap="none" spc="0" dirty="0">
                              <a:solidFill>
                                <a:schemeClr val="tx1"/>
                              </a:solidFill>
                            </a:rPr>
                            <a:t>Pro</a:t>
                          </a:r>
                          <a:endParaRPr lang="it-IT" sz="1600" cap="none" spc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5849" marR="69034" marT="81423" marB="814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it-IT" sz="1600" b="1" cap="none" spc="0" dirty="0">
                              <a:solidFill>
                                <a:schemeClr val="tx1"/>
                              </a:solidFill>
                            </a:rPr>
                            <a:t>Contro</a:t>
                          </a:r>
                          <a:endParaRPr lang="it-IT" sz="1600" cap="none" spc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5849" marR="69034" marT="81423" marB="814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</a:lnR>
                        <a:lnT w="19050" cap="flat" cmpd="sng" algn="ctr">
                          <a:noFill/>
                          <a:prstDash val="soli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55049175"/>
                      </a:ext>
                    </a:extLst>
                  </a:tr>
                  <a:tr h="105271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it-IT" sz="2400" b="1" cap="none" spc="0" dirty="0">
                              <a:solidFill>
                                <a:schemeClr val="tx1"/>
                              </a:solidFill>
                            </a:rPr>
                            <a:t>RapidFuzz</a:t>
                          </a:r>
                          <a:endParaRPr lang="it-IT" sz="1600" cap="none" spc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5849" marR="69034" marT="81423" marB="81423" anchor="ctr">
                        <a:lnL w="19050" cap="flat" cmpd="sng" algn="ctr">
                          <a:noFill/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it-IT" sz="1600" cap="none" spc="0" dirty="0">
                              <a:solidFill>
                                <a:schemeClr val="tx1"/>
                              </a:solidFill>
                            </a:rPr>
                            <a:t>Similarità fuzzy tra stringhe (token &amp; caratteri).</a:t>
                          </a:r>
                        </a:p>
                      </a:txBody>
                      <a:tcPr marL="105849" marR="69034" marT="81423" marB="814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it-IT" sz="1600" cap="none" spc="0" dirty="0">
                              <a:solidFill>
                                <a:schemeClr val="tx1"/>
                              </a:solidFill>
                            </a:rPr>
                            <a:t>Variante normalizzata della </a:t>
                          </a:r>
                          <a:r>
                            <a:rPr lang="it-IT" sz="1600" b="1" cap="none" spc="0" dirty="0">
                              <a:solidFill>
                                <a:schemeClr val="tx1"/>
                              </a:solidFill>
                            </a:rPr>
                            <a:t>distanza di Levenshtein</a:t>
                          </a:r>
                          <a:r>
                            <a:rPr lang="it-IT" sz="1600" cap="none" spc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marL="105849" marR="69034" marT="81423" marB="814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it-IT" sz="1600" cap="none" spc="0" dirty="0">
                              <a:solidFill>
                                <a:schemeClr val="tx1"/>
                              </a:solidFill>
                            </a:rPr>
                            <a:t>Molto veloce (C++)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it-IT" sz="1600" cap="none" spc="0" dirty="0">
                              <a:solidFill>
                                <a:schemeClr val="tx1"/>
                              </a:solidFill>
                            </a:rPr>
                            <a:t> Restituisce  intuitiva.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it-IT" sz="1600" cap="none" spc="0" dirty="0">
                              <a:solidFill>
                                <a:schemeClr val="tx1"/>
                              </a:solidFill>
                            </a:rPr>
                            <a:t>Ottimo per matching testuale.</a:t>
                          </a:r>
                        </a:p>
                      </a:txBody>
                      <a:tcPr marL="105849" marR="69034" marT="81423" marB="814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it-IT" sz="1600" cap="none" spc="0" dirty="0">
                              <a:solidFill>
                                <a:schemeClr val="tx1"/>
                              </a:solidFill>
                            </a:rPr>
                            <a:t>Non riconosce sinonimi.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it-IT" sz="1600" cap="none" spc="0" dirty="0">
                              <a:solidFill>
                                <a:schemeClr val="tx1"/>
                              </a:solidFill>
                            </a:rPr>
                            <a:t>Sensibile a testi molto corti.</a:t>
                          </a:r>
                        </a:p>
                      </a:txBody>
                      <a:tcPr marL="105849" marR="69034" marT="81423" marB="814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88149226"/>
                      </a:ext>
                    </a:extLst>
                  </a:tr>
                  <a:tr h="105271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it-IT" sz="2400" b="1" cap="none" spc="0" dirty="0">
                              <a:solidFill>
                                <a:schemeClr val="tx1"/>
                              </a:solidFill>
                            </a:rPr>
                            <a:t>Difflib</a:t>
                          </a:r>
                          <a:endParaRPr lang="it-IT" sz="1400" cap="none" spc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5849" marR="69034" marT="81423" marB="81423" anchor="ctr">
                        <a:lnL w="19050" cap="flat" cmpd="sng" algn="ctr">
                          <a:noFill/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it-IT" sz="1600" cap="none" spc="0" dirty="0">
                              <a:solidFill>
                                <a:schemeClr val="tx1"/>
                              </a:solidFill>
                            </a:rPr>
                            <a:t>Confronto sequenze con </a:t>
                          </a:r>
                          <a:r>
                            <a:rPr lang="it-IT" sz="1600" b="1" cap="none" spc="0" dirty="0">
                              <a:solidFill>
                                <a:schemeClr val="tx1"/>
                              </a:solidFill>
                            </a:rPr>
                            <a:t>Longest Common Subsequence (LCS)</a:t>
                          </a:r>
                          <a:r>
                            <a:rPr lang="it-IT" sz="1600" cap="none" spc="0" dirty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</a:txBody>
                      <a:tcPr marL="105849" marR="69034" marT="81423" marB="814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it-IT" sz="1600" cap="none" spc="0" dirty="0">
                              <a:solidFill>
                                <a:schemeClr val="tx1"/>
                              </a:solidFill>
                            </a:rPr>
                            <a:t>Similarità =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ar-AE" sz="1600" i="1" cap="none" spc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ar-AE" sz="1600" cap="none" spc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ar-AE" sz="1600" i="1" cap="none" spc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num>
                                <m:den>
                                  <m:r>
                                    <a:rPr lang="ar-AE" sz="1600" i="1" cap="none" spc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  <m:r>
                                <a:rPr lang="it-IT" sz="1600" b="0" i="0" cap="none" spc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endParaRPr lang="it-IT" sz="1600" b="0" cap="none" spc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>
                            <a:buNone/>
                          </a:pPr>
                          <a:r>
                            <a:rPr lang="it-IT" sz="1600" cap="none" spc="0" dirty="0">
                              <a:solidFill>
                                <a:schemeClr val="tx1"/>
                              </a:solidFill>
                            </a:rPr>
                            <a:t>M=blocchi comuni,</a:t>
                          </a:r>
                        </a:p>
                        <a:p>
                          <a:pPr>
                            <a:buNone/>
                          </a:pPr>
                          <a:r>
                            <a:rPr lang="it-IT" sz="1600" cap="none" spc="0" dirty="0">
                              <a:solidFill>
                                <a:schemeClr val="tx1"/>
                              </a:solidFill>
                            </a:rPr>
                            <a:t>T=somma lunghezze</a:t>
                          </a:r>
                        </a:p>
                      </a:txBody>
                      <a:tcPr marL="105849" marR="69034" marT="81423" marB="814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it-IT" sz="1600" cap="none" spc="0" dirty="0">
                              <a:solidFill>
                                <a:schemeClr val="tx1"/>
                              </a:solidFill>
                            </a:rPr>
                            <a:t>Incluso in Python standard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it-IT" sz="1600" cap="none" spc="0" dirty="0">
                              <a:solidFill>
                                <a:schemeClr val="tx1"/>
                              </a:solidFill>
                            </a:rPr>
                            <a:t>Utile per diff/patch.</a:t>
                          </a:r>
                        </a:p>
                      </a:txBody>
                      <a:tcPr marL="105849" marR="69034" marT="81423" marB="814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it-IT" sz="1600" cap="none" spc="0" dirty="0">
                              <a:solidFill>
                                <a:schemeClr val="tx1"/>
                              </a:solidFill>
                            </a:rPr>
                            <a:t>Lento.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it-IT" sz="1600" cap="none" spc="0" dirty="0">
                              <a:solidFill>
                                <a:schemeClr val="tx1"/>
                              </a:solidFill>
                            </a:rPr>
                            <a:t>Non NLP-oriented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it-IT" sz="1600" cap="none" spc="0" dirty="0">
                              <a:solidFill>
                                <a:schemeClr val="tx1"/>
                              </a:solidFill>
                            </a:rPr>
                            <a:t>Non gestisce sinonimi</a:t>
                          </a:r>
                        </a:p>
                      </a:txBody>
                      <a:tcPr marL="105849" marR="69034" marT="81423" marB="814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67523662"/>
                      </a:ext>
                    </a:extLst>
                  </a:tr>
                  <a:tr h="113746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it-IT" sz="2400" b="1" cap="none" spc="0" dirty="0">
                              <a:solidFill>
                                <a:schemeClr val="tx1"/>
                              </a:solidFill>
                            </a:rPr>
                            <a:t>Bleu</a:t>
                          </a:r>
                          <a:endParaRPr lang="it-IT" sz="1400" cap="none" spc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5849" marR="69034" marT="81423" marB="81423" anchor="ctr">
                        <a:lnL w="19050" cap="flat" cmpd="sng" algn="ctr">
                          <a:noFill/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it-IT" sz="1600" cap="none" spc="0" dirty="0">
                              <a:solidFill>
                                <a:schemeClr val="tx1"/>
                              </a:solidFill>
                            </a:rPr>
                            <a:t>Confronto </a:t>
                          </a:r>
                          <a:r>
                            <a:rPr lang="it-IT" sz="1600" b="1" cap="none" spc="0" dirty="0">
                              <a:solidFill>
                                <a:schemeClr val="tx1"/>
                              </a:solidFill>
                            </a:rPr>
                            <a:t>n-grammi</a:t>
                          </a:r>
                          <a:r>
                            <a:rPr lang="it-IT" sz="1600" cap="none" spc="0" dirty="0">
                              <a:solidFill>
                                <a:schemeClr val="tx1"/>
                              </a:solidFill>
                            </a:rPr>
                            <a:t> candidato vs riferimento + penalità brevità.</a:t>
                          </a:r>
                        </a:p>
                      </a:txBody>
                      <a:tcPr marL="105849" marR="69034" marT="81423" marB="814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sz="1600" b="0" cap="none" spc="0">
                                    <a:solidFill>
                                      <a:schemeClr val="tx1"/>
                                    </a:solidFill>
                                  </a:rPr>
                                  <m:t>BLEU</m:t>
                                </m:r>
                                <m:r>
                                  <a:rPr lang="it-IT" sz="1600" b="0" i="0" cap="none" spc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it-IT" sz="1600" b="0" i="1" cap="none" spc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BP</m:t>
                                </m:r>
                                <m:r>
                                  <a:rPr lang="it-IT" sz="1600" b="0" i="0" cap="none" spc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func>
                                  <m:funcPr>
                                    <m:ctrlPr>
                                      <a:rPr lang="ar-AE" sz="1600" b="0" i="1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it-IT" sz="1600" b="0" i="0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exp</m:t>
                                    </m:r>
                                  </m:fName>
                                  <m:e>
                                    <m:r>
                                      <a:rPr lang="ar-AE" sz="1600" b="0" i="0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</m:e>
                                </m:func>
                                <m:nary>
                                  <m:naryPr>
                                    <m:chr m:val="∑"/>
                                    <m:grow m:val="on"/>
                                    <m:subHide m:val="on"/>
                                    <m:supHide m:val="on"/>
                                    <m:ctrlPr>
                                      <a:rPr lang="ar-AE" sz="1600" b="0" i="1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ar-AE" sz="1600" b="0" i="1" cap="none" spc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sz="1600" b="0" i="1" cap="none" spc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ar-AE" sz="1600" b="0" i="1" cap="none" spc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nary>
                                <m:func>
                                  <m:funcPr>
                                    <m:ctrlPr>
                                      <a:rPr lang="ar-AE" sz="1600" b="0" i="1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it-IT" sz="1600" b="0" i="0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ar-AE" sz="1600" b="0" i="1" cap="none" spc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sz="1600" b="0" i="1" cap="none" spc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ar-AE" sz="1600" b="0" i="1" cap="none" spc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func>
                                <m:r>
                                  <a:rPr lang="ar-AE" sz="1600" b="0" i="0" cap="none" spc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ar-AE" sz="1600" cap="none" spc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5849" marR="69034" marT="81423" marB="814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it-IT" sz="1600" cap="none" spc="0" dirty="0">
                              <a:solidFill>
                                <a:schemeClr val="tx1"/>
                              </a:solidFill>
                            </a:rPr>
                            <a:t> Standard NLP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it-IT" sz="1600" cap="none" spc="0" dirty="0">
                              <a:solidFill>
                                <a:schemeClr val="tx1"/>
                              </a:solidFill>
                            </a:rPr>
                            <a:t> Valuta coerenza frasi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it-IT" sz="1600" cap="none" spc="0" dirty="0">
                              <a:solidFill>
                                <a:schemeClr val="tx1"/>
                              </a:solidFill>
                            </a:rPr>
                            <a:t> Penalizza testi troppo corti</a:t>
                          </a:r>
                        </a:p>
                      </a:txBody>
                      <a:tcPr marL="105849" marR="69034" marT="81423" marB="814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it-IT" sz="1600" cap="none" spc="0" dirty="0">
                              <a:solidFill>
                                <a:schemeClr val="tx1"/>
                              </a:solidFill>
                            </a:rPr>
                            <a:t>Poco affidabile su frasi brevi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it-IT" sz="1600" cap="none" spc="0" dirty="0">
                              <a:solidFill>
                                <a:schemeClr val="tx1"/>
                              </a:solidFill>
                            </a:rPr>
                            <a:t>Non riconosce sinonimi/parafrasi</a:t>
                          </a:r>
                        </a:p>
                      </a:txBody>
                      <a:tcPr marL="105849" marR="69034" marT="81423" marB="814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5513052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Segnaposto contenuto 3">
                <a:extLst>
                  <a:ext uri="{FF2B5EF4-FFF2-40B4-BE49-F238E27FC236}">
                    <a16:creationId xmlns:a16="http://schemas.microsoft.com/office/drawing/2014/main" id="{279CD092-E52C-401B-9378-B2E05246980E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922321633"/>
                  </p:ext>
                </p:extLst>
              </p:nvPr>
            </p:nvGraphicFramePr>
            <p:xfrm>
              <a:off x="440637" y="1510747"/>
              <a:ext cx="10913163" cy="4747125"/>
            </p:xfrm>
            <a:graphic>
              <a:graphicData uri="http://schemas.openxmlformats.org/drawingml/2006/table">
                <a:tbl>
                  <a:tblPr>
                    <a:solidFill>
                      <a:schemeClr val="bg1"/>
                    </a:solidFill>
                  </a:tblPr>
                  <a:tblGrid>
                    <a:gridCol w="1845363">
                      <a:extLst>
                        <a:ext uri="{9D8B030D-6E8A-4147-A177-3AD203B41FA5}">
                          <a16:colId xmlns:a16="http://schemas.microsoft.com/office/drawing/2014/main" val="971379766"/>
                        </a:ext>
                      </a:extLst>
                    </a:gridCol>
                    <a:gridCol w="2266122">
                      <a:extLst>
                        <a:ext uri="{9D8B030D-6E8A-4147-A177-3AD203B41FA5}">
                          <a16:colId xmlns:a16="http://schemas.microsoft.com/office/drawing/2014/main" val="1458688343"/>
                        </a:ext>
                      </a:extLst>
                    </a:gridCol>
                    <a:gridCol w="2401323">
                      <a:extLst>
                        <a:ext uri="{9D8B030D-6E8A-4147-A177-3AD203B41FA5}">
                          <a16:colId xmlns:a16="http://schemas.microsoft.com/office/drawing/2014/main" val="43807633"/>
                        </a:ext>
                      </a:extLst>
                    </a:gridCol>
                    <a:gridCol w="2233060">
                      <a:extLst>
                        <a:ext uri="{9D8B030D-6E8A-4147-A177-3AD203B41FA5}">
                          <a16:colId xmlns:a16="http://schemas.microsoft.com/office/drawing/2014/main" val="2102073989"/>
                        </a:ext>
                      </a:extLst>
                    </a:gridCol>
                    <a:gridCol w="2167295">
                      <a:extLst>
                        <a:ext uri="{9D8B030D-6E8A-4147-A177-3AD203B41FA5}">
                          <a16:colId xmlns:a16="http://schemas.microsoft.com/office/drawing/2014/main" val="4110179893"/>
                        </a:ext>
                      </a:extLst>
                    </a:gridCol>
                  </a:tblGrid>
                  <a:tr h="84482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it-IT" sz="1600" b="1" cap="none" spc="0" dirty="0">
                              <a:solidFill>
                                <a:schemeClr val="tx1"/>
                              </a:solidFill>
                            </a:rPr>
                            <a:t>Metrica</a:t>
                          </a:r>
                          <a:endParaRPr lang="it-IT" sz="1600" cap="none" spc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5849" marR="69034" marT="81423" marB="81423" anchor="ctr">
                        <a:lnL w="19050" cap="flat" cmpd="sng" algn="ctr">
                          <a:noFill/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it-IT" sz="1600" b="1" cap="none" spc="0" dirty="0">
                              <a:solidFill>
                                <a:schemeClr val="tx1"/>
                              </a:solidFill>
                            </a:rPr>
                            <a:t>Logica</a:t>
                          </a:r>
                          <a:endParaRPr lang="it-IT" sz="1600" cap="none" spc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5849" marR="69034" marT="81423" marB="814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it-IT" sz="1600" b="1" cap="none" spc="0" dirty="0">
                              <a:solidFill>
                                <a:schemeClr val="tx1"/>
                              </a:solidFill>
                            </a:rPr>
                            <a:t>Formula / Algoritmo</a:t>
                          </a:r>
                          <a:endParaRPr lang="it-IT" sz="1600" cap="none" spc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5849" marR="69034" marT="81423" marB="814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it-IT" sz="1600" b="1" cap="none" spc="0" dirty="0">
                              <a:solidFill>
                                <a:schemeClr val="tx1"/>
                              </a:solidFill>
                            </a:rPr>
                            <a:t>Pro</a:t>
                          </a:r>
                          <a:endParaRPr lang="it-IT" sz="1600" cap="none" spc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5849" marR="69034" marT="81423" marB="814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it-IT" sz="1600" b="1" cap="none" spc="0" dirty="0">
                              <a:solidFill>
                                <a:schemeClr val="tx1"/>
                              </a:solidFill>
                            </a:rPr>
                            <a:t>Contro</a:t>
                          </a:r>
                          <a:endParaRPr lang="it-IT" sz="1600" cap="none" spc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5849" marR="69034" marT="81423" marB="814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</a:lnR>
                        <a:lnT w="19050" cap="flat" cmpd="sng" algn="ctr">
                          <a:noFill/>
                          <a:prstDash val="soli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55049175"/>
                      </a:ext>
                    </a:extLst>
                  </a:tr>
                  <a:tr h="138204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it-IT" sz="2400" b="1" cap="none" spc="0" dirty="0">
                              <a:solidFill>
                                <a:schemeClr val="tx1"/>
                              </a:solidFill>
                            </a:rPr>
                            <a:t>RapidFuzz</a:t>
                          </a:r>
                          <a:endParaRPr lang="it-IT" sz="1600" cap="none" spc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5849" marR="69034" marT="81423" marB="81423" anchor="ctr">
                        <a:lnL w="19050" cap="flat" cmpd="sng" algn="ctr">
                          <a:noFill/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it-IT" sz="1600" cap="none" spc="0" dirty="0">
                              <a:solidFill>
                                <a:schemeClr val="tx1"/>
                              </a:solidFill>
                            </a:rPr>
                            <a:t>Similarità fuzzy tra stringhe (token &amp; caratteri).</a:t>
                          </a:r>
                        </a:p>
                      </a:txBody>
                      <a:tcPr marL="105849" marR="69034" marT="81423" marB="814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it-IT" sz="1600" cap="none" spc="0" dirty="0">
                              <a:solidFill>
                                <a:schemeClr val="tx1"/>
                              </a:solidFill>
                            </a:rPr>
                            <a:t>Variante normalizzata della </a:t>
                          </a:r>
                          <a:r>
                            <a:rPr lang="it-IT" sz="1600" b="1" cap="none" spc="0" dirty="0">
                              <a:solidFill>
                                <a:schemeClr val="tx1"/>
                              </a:solidFill>
                            </a:rPr>
                            <a:t>distanza di Levenshtein</a:t>
                          </a:r>
                          <a:r>
                            <a:rPr lang="it-IT" sz="1600" cap="none" spc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 marL="105849" marR="69034" marT="81423" marB="814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it-IT" sz="1600" cap="none" spc="0" dirty="0">
                              <a:solidFill>
                                <a:schemeClr val="tx1"/>
                              </a:solidFill>
                            </a:rPr>
                            <a:t>Molto veloce (C++)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it-IT" sz="1600" cap="none" spc="0" dirty="0">
                              <a:solidFill>
                                <a:schemeClr val="tx1"/>
                              </a:solidFill>
                            </a:rPr>
                            <a:t> Restituisce  intuitiva.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it-IT" sz="1600" cap="none" spc="0" dirty="0">
                              <a:solidFill>
                                <a:schemeClr val="tx1"/>
                              </a:solidFill>
                            </a:rPr>
                            <a:t>Ottimo per matching testuale.</a:t>
                          </a:r>
                        </a:p>
                      </a:txBody>
                      <a:tcPr marL="105849" marR="69034" marT="81423" marB="814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it-IT" sz="1600" cap="none" spc="0" dirty="0">
                              <a:solidFill>
                                <a:schemeClr val="tx1"/>
                              </a:solidFill>
                            </a:rPr>
                            <a:t>Non riconosce sinonimi.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it-IT" sz="1600" cap="none" spc="0" dirty="0">
                              <a:solidFill>
                                <a:schemeClr val="tx1"/>
                              </a:solidFill>
                            </a:rPr>
                            <a:t>Sensibile a testi molto corti.</a:t>
                          </a:r>
                        </a:p>
                      </a:txBody>
                      <a:tcPr marL="105849" marR="69034" marT="81423" marB="814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88149226"/>
                      </a:ext>
                    </a:extLst>
                  </a:tr>
                  <a:tr h="113820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it-IT" sz="2400" b="1" cap="none" spc="0" dirty="0">
                              <a:solidFill>
                                <a:schemeClr val="tx1"/>
                              </a:solidFill>
                            </a:rPr>
                            <a:t>Difflib</a:t>
                          </a:r>
                          <a:endParaRPr lang="it-IT" sz="1400" cap="none" spc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5849" marR="69034" marT="81423" marB="81423" anchor="ctr">
                        <a:lnL w="19050" cap="flat" cmpd="sng" algn="ctr">
                          <a:noFill/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it-IT" sz="1600" cap="none" spc="0" dirty="0">
                              <a:solidFill>
                                <a:schemeClr val="tx1"/>
                              </a:solidFill>
                            </a:rPr>
                            <a:t>Confronto sequenze con </a:t>
                          </a:r>
                          <a:r>
                            <a:rPr lang="it-IT" sz="1600" b="1" cap="none" spc="0" dirty="0">
                              <a:solidFill>
                                <a:schemeClr val="tx1"/>
                              </a:solidFill>
                            </a:rPr>
                            <a:t>Longest Common Subsequence (LCS)</a:t>
                          </a:r>
                          <a:r>
                            <a:rPr lang="it-IT" sz="1600" cap="none" spc="0" dirty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</a:txBody>
                      <a:tcPr marL="105849" marR="69034" marT="81423" marB="814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105849" marR="69034" marT="81423" marB="814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71320" t="-195722" r="-183503" b="-1251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it-IT" sz="1600" cap="none" spc="0" dirty="0">
                              <a:solidFill>
                                <a:schemeClr val="tx1"/>
                              </a:solidFill>
                            </a:rPr>
                            <a:t>Incluso in Python standard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it-IT" sz="1600" cap="none" spc="0" dirty="0">
                              <a:solidFill>
                                <a:schemeClr val="tx1"/>
                              </a:solidFill>
                            </a:rPr>
                            <a:t>Utile per diff/patch.</a:t>
                          </a:r>
                        </a:p>
                      </a:txBody>
                      <a:tcPr marL="105849" marR="69034" marT="81423" marB="814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it-IT" sz="1600" cap="none" spc="0" dirty="0">
                              <a:solidFill>
                                <a:schemeClr val="tx1"/>
                              </a:solidFill>
                            </a:rPr>
                            <a:t>Lento.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it-IT" sz="1600" cap="none" spc="0" dirty="0">
                              <a:solidFill>
                                <a:schemeClr val="tx1"/>
                              </a:solidFill>
                            </a:rPr>
                            <a:t>Non NLP-oriented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it-IT" sz="1600" cap="none" spc="0" dirty="0">
                              <a:solidFill>
                                <a:schemeClr val="tx1"/>
                              </a:solidFill>
                            </a:rPr>
                            <a:t>Non gestisce sinonimi</a:t>
                          </a:r>
                        </a:p>
                      </a:txBody>
                      <a:tcPr marL="105849" marR="69034" marT="81423" marB="814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67523662"/>
                      </a:ext>
                    </a:extLst>
                  </a:tr>
                  <a:tr h="138204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it-IT" sz="2400" b="1" cap="none" spc="0" dirty="0">
                              <a:solidFill>
                                <a:schemeClr val="tx1"/>
                              </a:solidFill>
                            </a:rPr>
                            <a:t>Bleu</a:t>
                          </a:r>
                          <a:endParaRPr lang="it-IT" sz="1400" cap="none" spc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5849" marR="69034" marT="81423" marB="81423" anchor="ctr">
                        <a:lnL w="19050" cap="flat" cmpd="sng" algn="ctr">
                          <a:noFill/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it-IT" sz="1600" cap="none" spc="0" dirty="0">
                              <a:solidFill>
                                <a:schemeClr val="tx1"/>
                              </a:solidFill>
                            </a:rPr>
                            <a:t>Confronto </a:t>
                          </a:r>
                          <a:r>
                            <a:rPr lang="it-IT" sz="1600" b="1" cap="none" spc="0" dirty="0">
                              <a:solidFill>
                                <a:schemeClr val="tx1"/>
                              </a:solidFill>
                            </a:rPr>
                            <a:t>n-grammi</a:t>
                          </a:r>
                          <a:r>
                            <a:rPr lang="it-IT" sz="1600" cap="none" spc="0" dirty="0">
                              <a:solidFill>
                                <a:schemeClr val="tx1"/>
                              </a:solidFill>
                            </a:rPr>
                            <a:t> candidato vs riferimento + penalità brevità.</a:t>
                          </a:r>
                        </a:p>
                      </a:txBody>
                      <a:tcPr marL="105849" marR="69034" marT="81423" marB="814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105849" marR="69034" marT="81423" marB="814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71320" t="-243612" r="-183503" b="-30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it-IT" sz="1600" cap="none" spc="0" dirty="0">
                              <a:solidFill>
                                <a:schemeClr val="tx1"/>
                              </a:solidFill>
                            </a:rPr>
                            <a:t> Standard NLP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it-IT" sz="1600" cap="none" spc="0" dirty="0">
                              <a:solidFill>
                                <a:schemeClr val="tx1"/>
                              </a:solidFill>
                            </a:rPr>
                            <a:t> Valuta coerenza frasi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it-IT" sz="1600" cap="none" spc="0" dirty="0">
                              <a:solidFill>
                                <a:schemeClr val="tx1"/>
                              </a:solidFill>
                            </a:rPr>
                            <a:t> Penalizza testi troppo corti</a:t>
                          </a:r>
                        </a:p>
                      </a:txBody>
                      <a:tcPr marL="105849" marR="69034" marT="81423" marB="814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it-IT" sz="1600" cap="none" spc="0" dirty="0">
                              <a:solidFill>
                                <a:schemeClr val="tx1"/>
                              </a:solidFill>
                            </a:rPr>
                            <a:t>Poco affidabile su frasi brevi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it-IT" sz="1600" cap="none" spc="0" dirty="0">
                              <a:solidFill>
                                <a:schemeClr val="tx1"/>
                              </a:solidFill>
                            </a:rPr>
                            <a:t>Non riconosce sinonimi/parafrasi</a:t>
                          </a:r>
                        </a:p>
                      </a:txBody>
                      <a:tcPr marL="105849" marR="69034" marT="81423" marB="81423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5513052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475967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56BE7DF-D558-FB51-D4BC-937437BD9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381000"/>
            <a:ext cx="4217276" cy="612337"/>
          </a:xfrm>
        </p:spPr>
        <p:txBody>
          <a:bodyPr>
            <a:normAutofit fontScale="90000"/>
          </a:bodyPr>
          <a:lstStyle/>
          <a:p>
            <a:r>
              <a:rPr lang="it-IT" sz="4000" b="1" dirty="0"/>
              <a:t>Esempio</a:t>
            </a:r>
          </a:p>
        </p:txBody>
      </p:sp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F96A750D-0AF7-5912-6820-319A4CC5A2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2300783"/>
              </p:ext>
            </p:extLst>
          </p:nvPr>
        </p:nvGraphicFramePr>
        <p:xfrm>
          <a:off x="352425" y="1179689"/>
          <a:ext cx="11134034" cy="1828800"/>
        </p:xfrm>
        <a:graphic>
          <a:graphicData uri="http://schemas.openxmlformats.org/drawingml/2006/table">
            <a:tbl>
              <a:tblPr>
                <a:tableStyleId>{5FD0F851-EC5A-4D38-B0AD-8093EC10F338}</a:tableStyleId>
              </a:tblPr>
              <a:tblGrid>
                <a:gridCol w="2266121">
                  <a:extLst>
                    <a:ext uri="{9D8B030D-6E8A-4147-A177-3AD203B41FA5}">
                      <a16:colId xmlns:a16="http://schemas.microsoft.com/office/drawing/2014/main" val="2328523794"/>
                    </a:ext>
                  </a:extLst>
                </a:gridCol>
                <a:gridCol w="8867913">
                  <a:extLst>
                    <a:ext uri="{9D8B030D-6E8A-4147-A177-3AD203B41FA5}">
                      <a16:colId xmlns:a16="http://schemas.microsoft.com/office/drawing/2014/main" val="99856411"/>
                    </a:ext>
                  </a:extLst>
                </a:gridCol>
              </a:tblGrid>
              <a:tr h="803167">
                <a:tc>
                  <a:txBody>
                    <a:bodyPr/>
                    <a:lstStyle/>
                    <a:p>
                      <a:r>
                        <a:rPr lang="it-IT" dirty="0"/>
                        <a:t>Frase riferimento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dirty="0"/>
                        <a:t>"Nel senso quindi hai </a:t>
                      </a:r>
                      <a:r>
                        <a:rPr lang="it-IT" sz="1800" dirty="0">
                          <a:highlight>
                            <a:srgbClr val="FFFF00"/>
                          </a:highlight>
                        </a:rPr>
                        <a:t>una una un</a:t>
                      </a:r>
                      <a:r>
                        <a:rPr lang="it-IT" sz="1800" dirty="0"/>
                        <a:t>’attività, una mansione, un ruolo, un posto che ti permette poi di tenere in piedi quello che </a:t>
                      </a:r>
                      <a:r>
                        <a:rPr lang="it-IT" sz="1800" dirty="0">
                          <a:highlight>
                            <a:srgbClr val="00FF00"/>
                          </a:highlight>
                        </a:rPr>
                        <a:t>più è invece </a:t>
                      </a:r>
                      <a:r>
                        <a:rPr lang="it-IT" sz="1800" dirty="0"/>
                        <a:t>la tua propensione .»</a:t>
                      </a:r>
                    </a:p>
                    <a:p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0157861"/>
                  </a:ext>
                </a:extLst>
              </a:tr>
              <a:tr h="803167">
                <a:tc>
                  <a:txBody>
                    <a:bodyPr/>
                    <a:lstStyle/>
                    <a:p>
                      <a:r>
                        <a:rPr lang="it-IT" dirty="0"/>
                        <a:t>Frase automatica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dirty="0"/>
                        <a:t>"Nel senso che quindi hai </a:t>
                      </a:r>
                      <a:r>
                        <a:rPr lang="it-IT" sz="1800" dirty="0">
                          <a:highlight>
                            <a:srgbClr val="FFFF00"/>
                          </a:highlight>
                        </a:rPr>
                        <a:t>un</a:t>
                      </a:r>
                      <a:r>
                        <a:rPr lang="it-IT" sz="1800" dirty="0"/>
                        <a:t>'attività, una mansione, un ruolo, un posto che ti permette poi di tenere in piedi quello che </a:t>
                      </a:r>
                      <a:r>
                        <a:rPr lang="it-IT" sz="1800" dirty="0">
                          <a:highlight>
                            <a:srgbClr val="00FF00"/>
                          </a:highlight>
                        </a:rPr>
                        <a:t>invece è più </a:t>
                      </a:r>
                      <a:r>
                        <a:rPr lang="it-IT" sz="1800" dirty="0"/>
                        <a:t>la tua propensione.«</a:t>
                      </a:r>
                    </a:p>
                    <a:p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0370031"/>
                  </a:ext>
                </a:extLst>
              </a:tr>
            </a:tbl>
          </a:graphicData>
        </a:graphic>
      </p:graphicFrame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022765C8-B9F3-72CD-CEFA-A897369A5C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0283192"/>
              </p:ext>
            </p:extLst>
          </p:nvPr>
        </p:nvGraphicFramePr>
        <p:xfrm>
          <a:off x="1728443" y="3429000"/>
          <a:ext cx="8127999" cy="304800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1690618">
                  <a:extLst>
                    <a:ext uri="{9D8B030D-6E8A-4147-A177-3AD203B41FA5}">
                      <a16:colId xmlns:a16="http://schemas.microsoft.com/office/drawing/2014/main" val="3485304048"/>
                    </a:ext>
                  </a:extLst>
                </a:gridCol>
                <a:gridCol w="3728048">
                  <a:extLst>
                    <a:ext uri="{9D8B030D-6E8A-4147-A177-3AD203B41FA5}">
                      <a16:colId xmlns:a16="http://schemas.microsoft.com/office/drawing/2014/main" val="297672301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8366368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b="1" i="1" dirty="0"/>
                        <a:t>RapidFuzz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confronta i token (parole), ignora l’ordine e le ripetizioni multiple, normalizza un po’.</a:t>
                      </a:r>
                    </a:p>
                    <a:p>
                      <a:r>
                        <a:rPr lang="it-IT" sz="1400" dirty="0">
                          <a:highlight>
                            <a:srgbClr val="FFFF00"/>
                          </a:highlight>
                        </a:rPr>
                        <a:t>ripetizione</a:t>
                      </a:r>
                      <a:r>
                        <a:rPr lang="it-IT" sz="1400" dirty="0"/>
                        <a:t> eliminata e tollera abbastanza l’</a:t>
                      </a:r>
                      <a:r>
                        <a:rPr lang="it-IT" sz="1400" dirty="0">
                          <a:highlight>
                            <a:srgbClr val="00FF00"/>
                          </a:highlight>
                        </a:rPr>
                        <a:t>inversione</a:t>
                      </a:r>
                      <a:endParaRPr lang="it-I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dirty="0"/>
                        <a:t>Somiglianza stimata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dirty="0"/>
                        <a:t>≈ 95–97%</a:t>
                      </a:r>
                    </a:p>
                    <a:p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59085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b="1" i="1" dirty="0"/>
                        <a:t>Difflib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confronta le stringhe carattere per carattere, favorisce lunghe sottostringhe identiche. penalizza la ripetizione e inversione perché cambia la sequenza di caratteri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dirty="0"/>
                        <a:t>Somiglianza stimata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dirty="0"/>
                        <a:t> ≈ 90–92%</a:t>
                      </a:r>
                    </a:p>
                    <a:p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539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b="1" i="1" dirty="0"/>
                        <a:t>Bleu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400" dirty="0"/>
                        <a:t>valuta la corrispondenza di n-grammi (1/2/3/4-gram) tra candidato e riferimento. Penalizza ripetizione perché non trova corrispondenza e l’inversione  perché rompe molti 2-gram e 3-gram.  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dirty="0"/>
                        <a:t>Somiglianza  stimata ≈ 75–80%</a:t>
                      </a:r>
                    </a:p>
                    <a:p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79083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83093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75D6C10-B5A7-4715-803E-0501C9C2C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8" name="Segnaposto contenuto 17" descr="Immagine che contiene testo, schermata, numero, Policromia&#10;&#10;Il contenuto generato dall'IA potrebbe non essere corretto.">
            <a:extLst>
              <a:ext uri="{FF2B5EF4-FFF2-40B4-BE49-F238E27FC236}">
                <a16:creationId xmlns:a16="http://schemas.microsoft.com/office/drawing/2014/main" id="{94081569-301F-BF81-5F97-2F232A665E1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668729" y="345909"/>
            <a:ext cx="5986824" cy="6166182"/>
          </a:xfr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16EFC2C3-C5D8-A01F-E7FC-355CA91DB407}"/>
              </a:ext>
            </a:extLst>
          </p:cNvPr>
          <p:cNvSpPr txBox="1"/>
          <p:nvPr/>
        </p:nvSpPr>
        <p:spPr>
          <a:xfrm>
            <a:off x="164123" y="350923"/>
            <a:ext cx="5791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>
                <a:latin typeface="+mj-lt"/>
              </a:rPr>
              <a:t>Interpretazione dei risultati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DB2E14FE-E6DD-AE8E-53C2-6F9210E6AAB9}"/>
              </a:ext>
            </a:extLst>
          </p:cNvPr>
          <p:cNvSpPr txBox="1"/>
          <p:nvPr/>
        </p:nvSpPr>
        <p:spPr>
          <a:xfrm>
            <a:off x="480646" y="1336431"/>
            <a:ext cx="448993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Il punteggio di similarità indica quanto i contenuti testuali delle due trascrizioni combaciano in una finestra temporale vicina, permettendo di valutare l’allineamento qualitativo tra la trascrizione riferimento e quella automatica.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Nel file_riferimento sono stati percepiti più </a:t>
            </a:r>
            <a:r>
              <a:rPr lang="en-US" i="1" u="sng" dirty="0"/>
              <a:t>interventi*</a:t>
            </a:r>
            <a:r>
              <a:rPr lang="en-US" dirty="0"/>
              <a:t>, infatti una volta unite più righe e confrontate la % tocca quasi il 100% e ciò giustifica le basse % nei confronti Riga -&gt; Join</a:t>
            </a:r>
          </a:p>
          <a:p>
            <a:endParaRPr lang="en-US" dirty="0"/>
          </a:p>
          <a:p>
            <a:r>
              <a:rPr lang="en-US" dirty="0"/>
              <a:t>*versi, esclamazioni, semplice </a:t>
            </a:r>
          </a:p>
          <a:p>
            <a:r>
              <a:rPr lang="en-US" dirty="0"/>
              <a:t>“ok” oppure “mmh”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937090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8F82D94-AB4A-41F8-ECEE-B39E56D89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440" y="172049"/>
            <a:ext cx="10166868" cy="928526"/>
          </a:xfrm>
        </p:spPr>
        <p:txBody>
          <a:bodyPr>
            <a:normAutofit/>
          </a:bodyPr>
          <a:lstStyle/>
          <a:p>
            <a:pPr algn="ctr"/>
            <a:r>
              <a:rPr lang="it-IT" sz="4800" b="1" dirty="0"/>
              <a:t>Impostazione correttore </a:t>
            </a:r>
          </a:p>
        </p:txBody>
      </p:sp>
      <p:pic>
        <p:nvPicPr>
          <p:cNvPr id="9" name="Segnaposto contenuto 4" descr="Immagine che contiene testo, schermata, Carattere, software&#10;&#10;Il contenuto generato dall'IA potrebbe non essere corretto.">
            <a:extLst>
              <a:ext uri="{FF2B5EF4-FFF2-40B4-BE49-F238E27FC236}">
                <a16:creationId xmlns:a16="http://schemas.microsoft.com/office/drawing/2014/main" id="{177A3A54-876B-78F6-A48D-5946B57C3D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97997" y="1476594"/>
            <a:ext cx="7296376" cy="2511348"/>
          </a:xfr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0010B5B5-5A1D-9A45-4190-FBDED1A59A7E}"/>
              </a:ext>
            </a:extLst>
          </p:cNvPr>
          <p:cNvSpPr txBox="1"/>
          <p:nvPr/>
        </p:nvSpPr>
        <p:spPr>
          <a:xfrm>
            <a:off x="178481" y="1100575"/>
            <a:ext cx="4519516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t-IT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it-IT" dirty="0"/>
              <a:t>Elaborazione:</a:t>
            </a:r>
          </a:p>
          <a:p>
            <a:r>
              <a:rPr lang="it-IT" dirty="0"/>
              <a:t>     parsing → controllo ortografia → LLM</a:t>
            </a:r>
          </a:p>
          <a:p>
            <a:endParaRPr lang="it-IT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it-IT" dirty="0"/>
              <a:t>parole sospette con </a:t>
            </a:r>
            <a:r>
              <a:rPr lang="it-IT" b="1" dirty="0"/>
              <a:t>SpellChecker</a:t>
            </a:r>
          </a:p>
          <a:p>
            <a:endParaRPr lang="it-IT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it-IT" dirty="0"/>
              <a:t>Chiede proposte di correzione a un </a:t>
            </a:r>
            <a:r>
              <a:rPr lang="it-IT" b="1" dirty="0"/>
              <a:t>LLM locale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it-IT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it-IT" dirty="0"/>
              <a:t>Mostra all’utente una GUI per accettare, modificare o ignorare</a:t>
            </a:r>
          </a:p>
          <a:p>
            <a:endParaRPr lang="it-IT" dirty="0"/>
          </a:p>
          <a:p>
            <a:r>
              <a:rPr lang="it-IT" b="1" dirty="0"/>
              <a:t>Principali tecnologie usate</a:t>
            </a:r>
            <a:endParaRPr lang="it-IT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it-IT" b="1" dirty="0"/>
              <a:t>pyspellchecker</a:t>
            </a:r>
            <a:r>
              <a:rPr lang="it-IT" dirty="0"/>
              <a:t> → rilevamento errori ortografici, evidenzia parole sospette</a:t>
            </a:r>
          </a:p>
          <a:p>
            <a:endParaRPr lang="it-IT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it-IT" b="1" dirty="0"/>
              <a:t>Requests</a:t>
            </a:r>
            <a:r>
              <a:rPr lang="it-IT" dirty="0"/>
              <a:t> → chiamata REST API all’LLM</a:t>
            </a:r>
          </a:p>
          <a:p>
            <a:endParaRPr lang="it-IT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it-IT" b="1" dirty="0"/>
              <a:t>LLM locale (phi-3-mini)</a:t>
            </a:r>
            <a:r>
              <a:rPr lang="it-IT" dirty="0"/>
              <a:t> → correzioni semantiche e proposte intelligenti</a:t>
            </a:r>
          </a:p>
          <a:p>
            <a:endParaRPr lang="it-IT" dirty="0"/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it-IT" sz="18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2C37585F-C18F-9600-7431-AE341786C61D}"/>
              </a:ext>
            </a:extLst>
          </p:cNvPr>
          <p:cNvSpPr txBox="1"/>
          <p:nvPr/>
        </p:nvSpPr>
        <p:spPr>
          <a:xfrm>
            <a:off x="5506889" y="4363961"/>
            <a:ext cx="532570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Ruolo LLM</a:t>
            </a:r>
          </a:p>
          <a:p>
            <a:endParaRPr lang="it-IT" b="1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it-IT" dirty="0"/>
              <a:t>Propone correzioni ortografiche contestuali</a:t>
            </a:r>
          </a:p>
          <a:p>
            <a:endParaRPr lang="it-IT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it-IT" dirty="0"/>
              <a:t>Raffina frasi semanticamente (senza alterare il significato)</a:t>
            </a:r>
          </a:p>
          <a:p>
            <a:endParaRPr lang="it-IT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it-IT" dirty="0"/>
              <a:t>Supporta l’utente in tempo reale nella scelta</a:t>
            </a:r>
          </a:p>
        </p:txBody>
      </p:sp>
    </p:spTree>
    <p:extLst>
      <p:ext uri="{BB962C8B-B14F-4D97-AF65-F5344CB8AC3E}">
        <p14:creationId xmlns:p14="http://schemas.microsoft.com/office/powerpoint/2010/main" val="37093496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8761DDFE-071F-4200-B0AA-394476C2D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2EE7A93-4CB3-BE81-4F24-0BCDAA2AD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6995" y="69300"/>
            <a:ext cx="7434960" cy="1255407"/>
          </a:xfrm>
        </p:spPr>
        <p:txBody>
          <a:bodyPr>
            <a:normAutofit fontScale="90000"/>
          </a:bodyPr>
          <a:lstStyle/>
          <a:p>
            <a:r>
              <a:rPr lang="it-IT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Analisi e scelta del modello LLM*</a:t>
            </a:r>
          </a:p>
        </p:txBody>
      </p:sp>
      <p:pic>
        <p:nvPicPr>
          <p:cNvPr id="5" name="Segnaposto contenuto 4" descr="Immagine che contiene testo, schermata, Carattere, linea&#10;&#10;Il contenuto generato dall'IA potrebbe non essere corretto.">
            <a:extLst>
              <a:ext uri="{FF2B5EF4-FFF2-40B4-BE49-F238E27FC236}">
                <a16:creationId xmlns:a16="http://schemas.microsoft.com/office/drawing/2014/main" id="{9B46840A-339F-41B7-BA58-029B15D602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62" r="1054"/>
          <a:stretch>
            <a:fillRect/>
          </a:stretch>
        </p:blipFill>
        <p:spPr>
          <a:xfrm>
            <a:off x="1225363" y="1049806"/>
            <a:ext cx="8352926" cy="4258047"/>
          </a:xfrm>
          <a:prstGeom prst="rect">
            <a:avLst/>
          </a:prstGeom>
        </p:spPr>
      </p:pic>
      <p:graphicFrame>
        <p:nvGraphicFramePr>
          <p:cNvPr id="9" name="Tabella 8">
            <a:extLst>
              <a:ext uri="{FF2B5EF4-FFF2-40B4-BE49-F238E27FC236}">
                <a16:creationId xmlns:a16="http://schemas.microsoft.com/office/drawing/2014/main" id="{A5DCC1B8-0E0D-C809-CA20-C08FCB75CD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825654"/>
              </p:ext>
            </p:extLst>
          </p:nvPr>
        </p:nvGraphicFramePr>
        <p:xfrm>
          <a:off x="2043725" y="5605713"/>
          <a:ext cx="7276122" cy="914400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1245336">
                  <a:extLst>
                    <a:ext uri="{9D8B030D-6E8A-4147-A177-3AD203B41FA5}">
                      <a16:colId xmlns:a16="http://schemas.microsoft.com/office/drawing/2014/main" val="101204428"/>
                    </a:ext>
                  </a:extLst>
                </a:gridCol>
                <a:gridCol w="6030786">
                  <a:extLst>
                    <a:ext uri="{9D8B030D-6E8A-4147-A177-3AD203B41FA5}">
                      <a16:colId xmlns:a16="http://schemas.microsoft.com/office/drawing/2014/main" val="2365612994"/>
                    </a:ext>
                  </a:extLst>
                </a:gridCol>
              </a:tblGrid>
              <a:tr h="459282">
                <a:tc>
                  <a:txBody>
                    <a:bodyPr/>
                    <a:lstStyle/>
                    <a:p>
                      <a:r>
                        <a:rPr lang="it-IT" dirty="0"/>
                        <a:t>Modelli </a:t>
                      </a:r>
                    </a:p>
                    <a:p>
                      <a:r>
                        <a:rPr lang="it-IT" dirty="0"/>
                        <a:t>«famosi»</a:t>
                      </a:r>
                    </a:p>
                    <a:p>
                      <a:r>
                        <a:rPr lang="it-IT" dirty="0"/>
                        <a:t> esclusi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u="none" strike="noStrike" dirty="0">
                          <a:effectLst/>
                        </a:rPr>
                        <a:t>GPT-4  (OpenAI), Gemini (Google) , Claude (</a:t>
                      </a:r>
                      <a:r>
                        <a:rPr lang="it-IT" sz="1800" b="0" u="none" strike="noStrike" dirty="0" err="1">
                          <a:effectLst/>
                        </a:rPr>
                        <a:t>Anthropic</a:t>
                      </a:r>
                      <a:r>
                        <a:rPr lang="it-IT" sz="1800" b="0" u="none" strike="noStrike" dirty="0">
                          <a:effectLst/>
                        </a:rPr>
                        <a:t>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u="none" strike="noStrike" dirty="0">
                          <a:effectLst/>
                        </a:rPr>
                        <a:t>Mistral API, </a:t>
                      </a:r>
                      <a:r>
                        <a:rPr lang="it-IT" sz="1800" b="0" u="none" strike="noStrike" dirty="0" err="1">
                          <a:effectLst/>
                        </a:rPr>
                        <a:t>LLaMA</a:t>
                      </a:r>
                      <a:r>
                        <a:rPr lang="it-IT" sz="1800" b="0" u="none" strike="noStrike" dirty="0">
                          <a:effectLst/>
                        </a:rPr>
                        <a:t> 2 Chat </a:t>
                      </a:r>
                      <a:r>
                        <a:rPr lang="it-IT" sz="1800" b="0" u="none" strike="noStrike" dirty="0" err="1">
                          <a:effectLst/>
                        </a:rPr>
                        <a:t>Hosted</a:t>
                      </a:r>
                      <a:r>
                        <a:rPr lang="it-IT" sz="1800" b="0" u="none" strike="noStrike" dirty="0">
                          <a:effectLst/>
                        </a:rPr>
                        <a:t> (Meta)</a:t>
                      </a:r>
                    </a:p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841030579"/>
                  </a:ext>
                </a:extLst>
              </a:tr>
            </a:tbl>
          </a:graphicData>
        </a:graphic>
      </p:graphicFrame>
      <p:sp>
        <p:nvSpPr>
          <p:cNvPr id="10" name="CasellaDiTesto 9">
            <a:extLst>
              <a:ext uri="{FF2B5EF4-FFF2-40B4-BE49-F238E27FC236}">
                <a16:creationId xmlns:a16="http://schemas.microsoft.com/office/drawing/2014/main" id="{522E6E05-0B81-7F8C-7F61-6CA97385E7FD}"/>
              </a:ext>
            </a:extLst>
          </p:cNvPr>
          <p:cNvSpPr txBox="1"/>
          <p:nvPr/>
        </p:nvSpPr>
        <p:spPr>
          <a:xfrm>
            <a:off x="10406054" y="151362"/>
            <a:ext cx="24495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*scelta vincolata</a:t>
            </a:r>
          </a:p>
          <a:p>
            <a:r>
              <a:rPr lang="it-IT" dirty="0"/>
              <a:t>dall’hardware</a:t>
            </a:r>
          </a:p>
        </p:txBody>
      </p:sp>
    </p:spTree>
    <p:extLst>
      <p:ext uri="{BB962C8B-B14F-4D97-AF65-F5344CB8AC3E}">
        <p14:creationId xmlns:p14="http://schemas.microsoft.com/office/powerpoint/2010/main" val="30964468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B02B8ECC-56D9-C89A-FEA3-08180D54633B}"/>
              </a:ext>
            </a:extLst>
          </p:cNvPr>
          <p:cNvSpPr txBox="1"/>
          <p:nvPr/>
        </p:nvSpPr>
        <p:spPr>
          <a:xfrm>
            <a:off x="492369" y="1444393"/>
            <a:ext cx="1086142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it-IT" sz="2400" dirty="0"/>
              <a:t>È possibile ottenere una AI_transcription con un livello di aderenza al</a:t>
            </a:r>
          </a:p>
          <a:p>
            <a:r>
              <a:rPr lang="it-IT" sz="2400" dirty="0"/>
              <a:t>     ground truth &gt;80%</a:t>
            </a:r>
          </a:p>
          <a:p>
            <a:endParaRPr lang="it-IT" sz="2400" dirty="0"/>
          </a:p>
          <a:p>
            <a:r>
              <a:rPr lang="it-IT" sz="2400" dirty="0"/>
              <a:t>	-risultato condizionato dal modello utilizzato</a:t>
            </a:r>
          </a:p>
          <a:p>
            <a:endParaRPr lang="it-IT" sz="2400" dirty="0"/>
          </a:p>
          <a:p>
            <a:r>
              <a:rPr lang="it-IT" sz="2400" dirty="0"/>
              <a:t>	-tempi relativi all’hardware usato</a:t>
            </a:r>
          </a:p>
          <a:p>
            <a:br>
              <a:rPr lang="it-IT" sz="2400" dirty="0"/>
            </a:br>
            <a:br>
              <a:rPr lang="it-IT" sz="2400" dirty="0"/>
            </a:br>
            <a:r>
              <a:rPr lang="it-IT" sz="2400" dirty="0"/>
              <a:t>			</a:t>
            </a:r>
            <a:endParaRPr lang="it-IT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itolo 4">
            <a:extLst>
              <a:ext uri="{FF2B5EF4-FFF2-40B4-BE49-F238E27FC236}">
                <a16:creationId xmlns:a16="http://schemas.microsoft.com/office/drawing/2014/main" id="{AE93F787-7CA7-D9D7-6E7A-892060848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68" y="93786"/>
            <a:ext cx="10361559" cy="1350608"/>
          </a:xfrm>
        </p:spPr>
        <p:txBody>
          <a:bodyPr/>
          <a:lstStyle/>
          <a:p>
            <a:r>
              <a:rPr lang="it-IT" sz="4800" b="1" dirty="0"/>
              <a:t>Conclusioni</a:t>
            </a:r>
            <a:endParaRPr lang="it-IT" b="1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F2F600D3-ECC9-DF07-0C4B-E2DC6968F705}"/>
              </a:ext>
            </a:extLst>
          </p:cNvPr>
          <p:cNvSpPr txBox="1"/>
          <p:nvPr/>
        </p:nvSpPr>
        <p:spPr>
          <a:xfrm>
            <a:off x="838202" y="4860713"/>
            <a:ext cx="90853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it-IT" sz="2400" dirty="0"/>
              <a:t>Correttore e Similarity Score applicati in loop hanno lo scopo di innalzare la percentuale di somiglianza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DC5E4AB5-181E-0D11-A8EB-C82B28761609}"/>
              </a:ext>
            </a:extLst>
          </p:cNvPr>
          <p:cNvSpPr txBox="1"/>
          <p:nvPr/>
        </p:nvSpPr>
        <p:spPr>
          <a:xfrm>
            <a:off x="633046" y="4056185"/>
            <a:ext cx="98122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400" b="1" dirty="0">
                <a:latin typeface="+mj-lt"/>
              </a:rPr>
              <a:t>Sviluppi futuri</a:t>
            </a:r>
          </a:p>
        </p:txBody>
      </p:sp>
    </p:spTree>
    <p:extLst>
      <p:ext uri="{BB962C8B-B14F-4D97-AF65-F5344CB8AC3E}">
        <p14:creationId xmlns:p14="http://schemas.microsoft.com/office/powerpoint/2010/main" val="21277862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54A497-E31C-B090-864D-836E341B7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888" y="2645029"/>
            <a:ext cx="10515600" cy="1325563"/>
          </a:xfrm>
        </p:spPr>
        <p:txBody>
          <a:bodyPr/>
          <a:lstStyle/>
          <a:p>
            <a:r>
              <a:rPr lang="it-IT" dirty="0"/>
              <a:t>Grazie per l’attenzione.</a:t>
            </a:r>
          </a:p>
        </p:txBody>
      </p:sp>
    </p:spTree>
    <p:extLst>
      <p:ext uri="{BB962C8B-B14F-4D97-AF65-F5344CB8AC3E}">
        <p14:creationId xmlns:p14="http://schemas.microsoft.com/office/powerpoint/2010/main" val="307228083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1274</Words>
  <Application>Microsoft Office PowerPoint</Application>
  <PresentationFormat>Widescreen</PresentationFormat>
  <Paragraphs>210</Paragraphs>
  <Slides>19</Slides>
  <Notes>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19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Cambria Math</vt:lpstr>
      <vt:lpstr>Courier New</vt:lpstr>
      <vt:lpstr>OCR A Extended</vt:lpstr>
      <vt:lpstr>Tema di Office</vt:lpstr>
      <vt:lpstr>Presentazione standard di PowerPoint</vt:lpstr>
      <vt:lpstr>Sommario</vt:lpstr>
      <vt:lpstr>Presentazione standard di PowerPoint</vt:lpstr>
      <vt:lpstr>Presentazione standard di PowerPoint</vt:lpstr>
      <vt:lpstr>Obiettivi</vt:lpstr>
      <vt:lpstr>Workflow</vt:lpstr>
      <vt:lpstr>Steps preliminari</vt:lpstr>
      <vt:lpstr>Modelli valutati</vt:lpstr>
      <vt:lpstr>Presentazione standard di PowerPoint</vt:lpstr>
      <vt:lpstr>Presentazione standard di PowerPoint</vt:lpstr>
      <vt:lpstr>La traduzione automatica è simile a quella di riferimento?</vt:lpstr>
      <vt:lpstr>Utilizzo da linea di comando: &gt;&gt; python   confronto.py    file_riferimento.txt    file_automatico.txt </vt:lpstr>
      <vt:lpstr>Metriche utilizzate </vt:lpstr>
      <vt:lpstr>Esempio</vt:lpstr>
      <vt:lpstr>Presentazione standard di PowerPoint</vt:lpstr>
      <vt:lpstr>Impostazione correttore </vt:lpstr>
      <vt:lpstr>Analisi e scelta del modello LLM*</vt:lpstr>
      <vt:lpstr>Conclusioni</vt:lpstr>
      <vt:lpstr>Grazie per l’attenzione.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Stefany Vecchio</dc:creator>
  <cp:lastModifiedBy>Stefany Vecchio</cp:lastModifiedBy>
  <cp:revision>25</cp:revision>
  <dcterms:created xsi:type="dcterms:W3CDTF">2025-07-31T14:55:47Z</dcterms:created>
  <dcterms:modified xsi:type="dcterms:W3CDTF">2025-09-25T05:47:31Z</dcterms:modified>
</cp:coreProperties>
</file>